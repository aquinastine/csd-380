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
  </p:notesMasterIdLst>
  <p:sldIdLst>
    <p:sldId id="256" r:id="rId2"/>
    <p:sldId id="258" r:id="rId3"/>
    <p:sldId id="266" r:id="rId4"/>
    <p:sldId id="259" r:id="rId5"/>
    <p:sldId id="260" r:id="rId6"/>
    <p:sldId id="261" r:id="rId7"/>
    <p:sldId id="262" r:id="rId8"/>
    <p:sldId id="265"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392" y="9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A940DB-8073-4C5F-B116-B096491C642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E19CB7C-73B8-48FC-A282-9A80307425BC}">
      <dgm:prSet/>
      <dgm:spPr/>
      <dgm:t>
        <a:bodyPr/>
        <a:lstStyle/>
        <a:p>
          <a:pPr>
            <a:lnSpc>
              <a:spcPct val="100000"/>
            </a:lnSpc>
          </a:pPr>
          <a:r>
            <a:rPr lang="en-US" dirty="0">
              <a:solidFill>
                <a:schemeClr val="bg1"/>
              </a:solidFill>
            </a:rPr>
            <a:t>Balanced accountability: hold individuals accountable for choices while the organization owns system design and safety.</a:t>
          </a:r>
        </a:p>
      </dgm:t>
    </dgm:pt>
    <dgm:pt modelId="{BB9277FA-39CE-4FB8-8097-FAD1E60B0343}" type="parTrans" cxnId="{58BCC462-49BA-43E1-9B44-B851235ED1E2}">
      <dgm:prSet/>
      <dgm:spPr/>
      <dgm:t>
        <a:bodyPr/>
        <a:lstStyle/>
        <a:p>
          <a:endParaRPr lang="en-US"/>
        </a:p>
      </dgm:t>
    </dgm:pt>
    <dgm:pt modelId="{4B92C4FC-8DBF-4F21-B9F7-5D3958228A7D}" type="sibTrans" cxnId="{58BCC462-49BA-43E1-9B44-B851235ED1E2}">
      <dgm:prSet/>
      <dgm:spPr/>
      <dgm:t>
        <a:bodyPr/>
        <a:lstStyle/>
        <a:p>
          <a:endParaRPr lang="en-US"/>
        </a:p>
      </dgm:t>
    </dgm:pt>
    <dgm:pt modelId="{4760B00D-877D-48E4-8791-6E6B8FC8CB7E}">
      <dgm:prSet/>
      <dgm:spPr/>
      <dgm:t>
        <a:bodyPr/>
        <a:lstStyle/>
        <a:p>
          <a:pPr>
            <a:lnSpc>
              <a:spcPct val="100000"/>
            </a:lnSpc>
          </a:pPr>
          <a:r>
            <a:rPr lang="en-US" dirty="0">
              <a:solidFill>
                <a:schemeClr val="bg1"/>
              </a:solidFill>
            </a:rPr>
            <a:t>Shifts focus from 'who is at fault?' to 'what allowed the error?' — to enable reporting, learning, and system fixes.</a:t>
          </a:r>
        </a:p>
      </dgm:t>
    </dgm:pt>
    <dgm:pt modelId="{C5A66CFC-16E7-4017-A71C-272DC79F90FE}" type="parTrans" cxnId="{1FF1AA4C-B910-4214-8137-7DBB7EFA7511}">
      <dgm:prSet/>
      <dgm:spPr/>
      <dgm:t>
        <a:bodyPr/>
        <a:lstStyle/>
        <a:p>
          <a:endParaRPr lang="en-US"/>
        </a:p>
      </dgm:t>
    </dgm:pt>
    <dgm:pt modelId="{72697196-025E-4293-A589-DD3DE368DDD2}" type="sibTrans" cxnId="{1FF1AA4C-B910-4214-8137-7DBB7EFA7511}">
      <dgm:prSet/>
      <dgm:spPr/>
      <dgm:t>
        <a:bodyPr/>
        <a:lstStyle/>
        <a:p>
          <a:endParaRPr lang="en-US"/>
        </a:p>
      </dgm:t>
    </dgm:pt>
    <dgm:pt modelId="{8EA31570-BD73-40EB-A8CA-725AEB9FE814}">
      <dgm:prSet/>
      <dgm:spPr/>
      <dgm:t>
        <a:bodyPr/>
        <a:lstStyle/>
        <a:p>
          <a:pPr>
            <a:lnSpc>
              <a:spcPct val="100000"/>
            </a:lnSpc>
          </a:pPr>
          <a:r>
            <a:rPr lang="en-US" dirty="0">
              <a:solidFill>
                <a:schemeClr val="bg1"/>
              </a:solidFill>
            </a:rPr>
            <a:t>A Just Culture is needed to make safety possible and to learn from failures.</a:t>
          </a:r>
        </a:p>
      </dgm:t>
    </dgm:pt>
    <dgm:pt modelId="{B7390151-A081-4DF7-9C15-2E00F168A047}" type="parTrans" cxnId="{C6D29583-93D4-4CBE-8F34-51C0CC9867B0}">
      <dgm:prSet/>
      <dgm:spPr/>
      <dgm:t>
        <a:bodyPr/>
        <a:lstStyle/>
        <a:p>
          <a:endParaRPr lang="en-US"/>
        </a:p>
      </dgm:t>
    </dgm:pt>
    <dgm:pt modelId="{70E0494E-2837-4CE2-A846-4F33B544D653}" type="sibTrans" cxnId="{C6D29583-93D4-4CBE-8F34-51C0CC9867B0}">
      <dgm:prSet/>
      <dgm:spPr/>
      <dgm:t>
        <a:bodyPr/>
        <a:lstStyle/>
        <a:p>
          <a:endParaRPr lang="en-US"/>
        </a:p>
      </dgm:t>
    </dgm:pt>
    <dgm:pt modelId="{FB91A616-F2E8-4271-A15E-A5F81D6210C2}">
      <dgm:prSet/>
      <dgm:spPr/>
      <dgm:t>
        <a:bodyPr/>
        <a:lstStyle/>
        <a:p>
          <a:pPr>
            <a:lnSpc>
              <a:spcPct val="100000"/>
            </a:lnSpc>
          </a:pPr>
          <a:r>
            <a:rPr lang="en-US" dirty="0">
              <a:solidFill>
                <a:schemeClr val="bg1"/>
              </a:solidFill>
            </a:rPr>
            <a:t>Practices include blameless postmortems, surfacing and sharing discoveries, and proactively injecting learning via experiments.</a:t>
          </a:r>
        </a:p>
      </dgm:t>
    </dgm:pt>
    <dgm:pt modelId="{CEC86A9B-AFA7-43A6-8DF0-9668834C3675}" type="parTrans" cxnId="{17A4EE7E-9778-4670-8625-AAFE33143BB9}">
      <dgm:prSet/>
      <dgm:spPr/>
      <dgm:t>
        <a:bodyPr/>
        <a:lstStyle/>
        <a:p>
          <a:endParaRPr lang="en-US"/>
        </a:p>
      </dgm:t>
    </dgm:pt>
    <dgm:pt modelId="{DA6653D1-5F76-43EC-99D8-81B34CC999FC}" type="sibTrans" cxnId="{17A4EE7E-9778-4670-8625-AAFE33143BB9}">
      <dgm:prSet/>
      <dgm:spPr/>
      <dgm:t>
        <a:bodyPr/>
        <a:lstStyle/>
        <a:p>
          <a:endParaRPr lang="en-US"/>
        </a:p>
      </dgm:t>
    </dgm:pt>
    <dgm:pt modelId="{979F4BF9-08ED-4708-91DD-CEA753014DD0}" type="pres">
      <dgm:prSet presAssocID="{62A940DB-8073-4C5F-B116-B096491C642D}" presName="root" presStyleCnt="0">
        <dgm:presLayoutVars>
          <dgm:dir/>
          <dgm:resizeHandles val="exact"/>
        </dgm:presLayoutVars>
      </dgm:prSet>
      <dgm:spPr/>
    </dgm:pt>
    <dgm:pt modelId="{F2BE4FC4-2E3D-4C84-BF81-3FABEE60FC79}" type="pres">
      <dgm:prSet presAssocID="{7E19CB7C-73B8-48FC-A282-9A80307425BC}" presName="compNode" presStyleCnt="0"/>
      <dgm:spPr/>
    </dgm:pt>
    <dgm:pt modelId="{05949874-7070-476D-B1BE-82F3461F0ABE}" type="pres">
      <dgm:prSet presAssocID="{7E19CB7C-73B8-48FC-A282-9A80307425BC}" presName="bgRect" presStyleLbl="bgShp" presStyleIdx="0" presStyleCnt="4"/>
      <dgm:spPr/>
    </dgm:pt>
    <dgm:pt modelId="{06E93D6B-BEFA-425F-AEC4-7B9A12D50470}" type="pres">
      <dgm:prSet presAssocID="{7E19CB7C-73B8-48FC-A282-9A80307425B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cales of Justice"/>
        </a:ext>
      </dgm:extLst>
    </dgm:pt>
    <dgm:pt modelId="{683A85CE-9F67-4746-874B-BFFBCB5D9B53}" type="pres">
      <dgm:prSet presAssocID="{7E19CB7C-73B8-48FC-A282-9A80307425BC}" presName="spaceRect" presStyleCnt="0"/>
      <dgm:spPr/>
    </dgm:pt>
    <dgm:pt modelId="{5E35F683-EB04-42AF-B7AB-88665CEE99D7}" type="pres">
      <dgm:prSet presAssocID="{7E19CB7C-73B8-48FC-A282-9A80307425BC}" presName="parTx" presStyleLbl="revTx" presStyleIdx="0" presStyleCnt="4">
        <dgm:presLayoutVars>
          <dgm:chMax val="0"/>
          <dgm:chPref val="0"/>
        </dgm:presLayoutVars>
      </dgm:prSet>
      <dgm:spPr/>
    </dgm:pt>
    <dgm:pt modelId="{D2DDA696-2CF8-4327-AE8A-E6A3E9FF647F}" type="pres">
      <dgm:prSet presAssocID="{4B92C4FC-8DBF-4F21-B9F7-5D3958228A7D}" presName="sibTrans" presStyleCnt="0"/>
      <dgm:spPr/>
    </dgm:pt>
    <dgm:pt modelId="{D421EBED-FA1C-418B-BFA2-E5C132515BA4}" type="pres">
      <dgm:prSet presAssocID="{4760B00D-877D-48E4-8791-6E6B8FC8CB7E}" presName="compNode" presStyleCnt="0"/>
      <dgm:spPr/>
    </dgm:pt>
    <dgm:pt modelId="{FFF47A48-7FA0-47BE-B05D-17455E72E377}" type="pres">
      <dgm:prSet presAssocID="{4760B00D-877D-48E4-8791-6E6B8FC8CB7E}" presName="bgRect" presStyleLbl="bgShp" presStyleIdx="1" presStyleCnt="4"/>
      <dgm:spPr/>
    </dgm:pt>
    <dgm:pt modelId="{9220FD2F-2033-4874-8533-72FA9793A1FC}" type="pres">
      <dgm:prSet presAssocID="{4760B00D-877D-48E4-8791-6E6B8FC8CB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71792FEB-4582-4950-A16E-024805E3932E}" type="pres">
      <dgm:prSet presAssocID="{4760B00D-877D-48E4-8791-6E6B8FC8CB7E}" presName="spaceRect" presStyleCnt="0"/>
      <dgm:spPr/>
    </dgm:pt>
    <dgm:pt modelId="{E2E9673B-86A2-4D63-BBFB-E3842C438690}" type="pres">
      <dgm:prSet presAssocID="{4760B00D-877D-48E4-8791-6E6B8FC8CB7E}" presName="parTx" presStyleLbl="revTx" presStyleIdx="1" presStyleCnt="4">
        <dgm:presLayoutVars>
          <dgm:chMax val="0"/>
          <dgm:chPref val="0"/>
        </dgm:presLayoutVars>
      </dgm:prSet>
      <dgm:spPr/>
    </dgm:pt>
    <dgm:pt modelId="{B7B7F092-7573-40DB-95C6-78E5CB685790}" type="pres">
      <dgm:prSet presAssocID="{72697196-025E-4293-A589-DD3DE368DDD2}" presName="sibTrans" presStyleCnt="0"/>
      <dgm:spPr/>
    </dgm:pt>
    <dgm:pt modelId="{6E3AA8FA-1306-4FBA-86CF-0C75C90CCA9D}" type="pres">
      <dgm:prSet presAssocID="{8EA31570-BD73-40EB-A8CA-725AEB9FE814}" presName="compNode" presStyleCnt="0"/>
      <dgm:spPr/>
    </dgm:pt>
    <dgm:pt modelId="{A8DFE761-DA6F-4E23-A925-76C247875569}" type="pres">
      <dgm:prSet presAssocID="{8EA31570-BD73-40EB-A8CA-725AEB9FE814}" presName="bgRect" presStyleLbl="bgShp" presStyleIdx="2" presStyleCnt="4"/>
      <dgm:spPr/>
    </dgm:pt>
    <dgm:pt modelId="{59663BDB-C6DB-46E1-A192-A9ACD6B31AA5}" type="pres">
      <dgm:prSet presAssocID="{8EA31570-BD73-40EB-A8CA-725AEB9FE81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nstruction Worker"/>
        </a:ext>
      </dgm:extLst>
    </dgm:pt>
    <dgm:pt modelId="{AFAF9626-3201-4136-99CB-78D6D41DD911}" type="pres">
      <dgm:prSet presAssocID="{8EA31570-BD73-40EB-A8CA-725AEB9FE814}" presName="spaceRect" presStyleCnt="0"/>
      <dgm:spPr/>
    </dgm:pt>
    <dgm:pt modelId="{B0CB2613-8620-4827-AF14-71CA556F989D}" type="pres">
      <dgm:prSet presAssocID="{8EA31570-BD73-40EB-A8CA-725AEB9FE814}" presName="parTx" presStyleLbl="revTx" presStyleIdx="2" presStyleCnt="4">
        <dgm:presLayoutVars>
          <dgm:chMax val="0"/>
          <dgm:chPref val="0"/>
        </dgm:presLayoutVars>
      </dgm:prSet>
      <dgm:spPr/>
    </dgm:pt>
    <dgm:pt modelId="{BD409035-20B8-48BB-B833-DD5D6CB48959}" type="pres">
      <dgm:prSet presAssocID="{70E0494E-2837-4CE2-A846-4F33B544D653}" presName="sibTrans" presStyleCnt="0"/>
      <dgm:spPr/>
    </dgm:pt>
    <dgm:pt modelId="{D8CFB508-65EA-4638-B75C-166D5EBD9396}" type="pres">
      <dgm:prSet presAssocID="{FB91A616-F2E8-4271-A15E-A5F81D6210C2}" presName="compNode" presStyleCnt="0"/>
      <dgm:spPr/>
    </dgm:pt>
    <dgm:pt modelId="{47FC9958-B5C5-4FD0-A405-D0E62E0D7F71}" type="pres">
      <dgm:prSet presAssocID="{FB91A616-F2E8-4271-A15E-A5F81D6210C2}" presName="bgRect" presStyleLbl="bgShp" presStyleIdx="3" presStyleCnt="4"/>
      <dgm:spPr/>
    </dgm:pt>
    <dgm:pt modelId="{ECDFED38-EA35-447A-902C-C79BCAF305E0}" type="pres">
      <dgm:prSet presAssocID="{FB91A616-F2E8-4271-A15E-A5F81D6210C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Eye dropper"/>
        </a:ext>
      </dgm:extLst>
    </dgm:pt>
    <dgm:pt modelId="{05DD6B57-97A0-417B-8294-441B67821543}" type="pres">
      <dgm:prSet presAssocID="{FB91A616-F2E8-4271-A15E-A5F81D6210C2}" presName="spaceRect" presStyleCnt="0"/>
      <dgm:spPr/>
    </dgm:pt>
    <dgm:pt modelId="{1CDD4BB8-BC3C-4E9D-BDFE-09E9D2122AD5}" type="pres">
      <dgm:prSet presAssocID="{FB91A616-F2E8-4271-A15E-A5F81D6210C2}" presName="parTx" presStyleLbl="revTx" presStyleIdx="3" presStyleCnt="4">
        <dgm:presLayoutVars>
          <dgm:chMax val="0"/>
          <dgm:chPref val="0"/>
        </dgm:presLayoutVars>
      </dgm:prSet>
      <dgm:spPr/>
    </dgm:pt>
  </dgm:ptLst>
  <dgm:cxnLst>
    <dgm:cxn modelId="{C7F38105-8BA8-44D2-BAC3-7B6952396945}" type="presOf" srcId="{4760B00D-877D-48E4-8791-6E6B8FC8CB7E}" destId="{E2E9673B-86A2-4D63-BBFB-E3842C438690}" srcOrd="0" destOrd="0" presId="urn:microsoft.com/office/officeart/2018/2/layout/IconVerticalSolidList"/>
    <dgm:cxn modelId="{58BCC462-49BA-43E1-9B44-B851235ED1E2}" srcId="{62A940DB-8073-4C5F-B116-B096491C642D}" destId="{7E19CB7C-73B8-48FC-A282-9A80307425BC}" srcOrd="0" destOrd="0" parTransId="{BB9277FA-39CE-4FB8-8097-FAD1E60B0343}" sibTransId="{4B92C4FC-8DBF-4F21-B9F7-5D3958228A7D}"/>
    <dgm:cxn modelId="{1FF1AA4C-B910-4214-8137-7DBB7EFA7511}" srcId="{62A940DB-8073-4C5F-B116-B096491C642D}" destId="{4760B00D-877D-48E4-8791-6E6B8FC8CB7E}" srcOrd="1" destOrd="0" parTransId="{C5A66CFC-16E7-4017-A71C-272DC79F90FE}" sibTransId="{72697196-025E-4293-A589-DD3DE368DDD2}"/>
    <dgm:cxn modelId="{19AF4D54-CBDA-428F-AA6F-231DB9EF885D}" type="presOf" srcId="{8EA31570-BD73-40EB-A8CA-725AEB9FE814}" destId="{B0CB2613-8620-4827-AF14-71CA556F989D}" srcOrd="0" destOrd="0" presId="urn:microsoft.com/office/officeart/2018/2/layout/IconVerticalSolidList"/>
    <dgm:cxn modelId="{62D35656-773E-48C1-9974-D97F5FAA826D}" type="presOf" srcId="{FB91A616-F2E8-4271-A15E-A5F81D6210C2}" destId="{1CDD4BB8-BC3C-4E9D-BDFE-09E9D2122AD5}" srcOrd="0" destOrd="0" presId="urn:microsoft.com/office/officeart/2018/2/layout/IconVerticalSolidList"/>
    <dgm:cxn modelId="{17A4EE7E-9778-4670-8625-AAFE33143BB9}" srcId="{62A940DB-8073-4C5F-B116-B096491C642D}" destId="{FB91A616-F2E8-4271-A15E-A5F81D6210C2}" srcOrd="3" destOrd="0" parTransId="{CEC86A9B-AFA7-43A6-8DF0-9668834C3675}" sibTransId="{DA6653D1-5F76-43EC-99D8-81B34CC999FC}"/>
    <dgm:cxn modelId="{9D2C347F-8A34-47FF-9AFB-86A1ED9F9191}" type="presOf" srcId="{62A940DB-8073-4C5F-B116-B096491C642D}" destId="{979F4BF9-08ED-4708-91DD-CEA753014DD0}" srcOrd="0" destOrd="0" presId="urn:microsoft.com/office/officeart/2018/2/layout/IconVerticalSolidList"/>
    <dgm:cxn modelId="{C6D29583-93D4-4CBE-8F34-51C0CC9867B0}" srcId="{62A940DB-8073-4C5F-B116-B096491C642D}" destId="{8EA31570-BD73-40EB-A8CA-725AEB9FE814}" srcOrd="2" destOrd="0" parTransId="{B7390151-A081-4DF7-9C15-2E00F168A047}" sibTransId="{70E0494E-2837-4CE2-A846-4F33B544D653}"/>
    <dgm:cxn modelId="{C252718D-37D8-4DFC-AD14-D91BFC094E79}" type="presOf" srcId="{7E19CB7C-73B8-48FC-A282-9A80307425BC}" destId="{5E35F683-EB04-42AF-B7AB-88665CEE99D7}" srcOrd="0" destOrd="0" presId="urn:microsoft.com/office/officeart/2018/2/layout/IconVerticalSolidList"/>
    <dgm:cxn modelId="{B4EAF709-2728-4899-971D-846D74D995B9}" type="presParOf" srcId="{979F4BF9-08ED-4708-91DD-CEA753014DD0}" destId="{F2BE4FC4-2E3D-4C84-BF81-3FABEE60FC79}" srcOrd="0" destOrd="0" presId="urn:microsoft.com/office/officeart/2018/2/layout/IconVerticalSolidList"/>
    <dgm:cxn modelId="{66866642-DFAE-4C84-BFE4-8E3994619350}" type="presParOf" srcId="{F2BE4FC4-2E3D-4C84-BF81-3FABEE60FC79}" destId="{05949874-7070-476D-B1BE-82F3461F0ABE}" srcOrd="0" destOrd="0" presId="urn:microsoft.com/office/officeart/2018/2/layout/IconVerticalSolidList"/>
    <dgm:cxn modelId="{A73FB306-9659-467B-9784-4AF9A08E4791}" type="presParOf" srcId="{F2BE4FC4-2E3D-4C84-BF81-3FABEE60FC79}" destId="{06E93D6B-BEFA-425F-AEC4-7B9A12D50470}" srcOrd="1" destOrd="0" presId="urn:microsoft.com/office/officeart/2018/2/layout/IconVerticalSolidList"/>
    <dgm:cxn modelId="{6CA979FB-B4E1-4282-81C5-C3BF4FDF8C9E}" type="presParOf" srcId="{F2BE4FC4-2E3D-4C84-BF81-3FABEE60FC79}" destId="{683A85CE-9F67-4746-874B-BFFBCB5D9B53}" srcOrd="2" destOrd="0" presId="urn:microsoft.com/office/officeart/2018/2/layout/IconVerticalSolidList"/>
    <dgm:cxn modelId="{68C816E6-9EBA-4B1E-AE11-6276C68177FA}" type="presParOf" srcId="{F2BE4FC4-2E3D-4C84-BF81-3FABEE60FC79}" destId="{5E35F683-EB04-42AF-B7AB-88665CEE99D7}" srcOrd="3" destOrd="0" presId="urn:microsoft.com/office/officeart/2018/2/layout/IconVerticalSolidList"/>
    <dgm:cxn modelId="{D81AECE1-48DD-4DFC-BE5E-85B3F40B9EFC}" type="presParOf" srcId="{979F4BF9-08ED-4708-91DD-CEA753014DD0}" destId="{D2DDA696-2CF8-4327-AE8A-E6A3E9FF647F}" srcOrd="1" destOrd="0" presId="urn:microsoft.com/office/officeart/2018/2/layout/IconVerticalSolidList"/>
    <dgm:cxn modelId="{98666708-BE1C-4C13-9F33-27D73755D27D}" type="presParOf" srcId="{979F4BF9-08ED-4708-91DD-CEA753014DD0}" destId="{D421EBED-FA1C-418B-BFA2-E5C132515BA4}" srcOrd="2" destOrd="0" presId="urn:microsoft.com/office/officeart/2018/2/layout/IconVerticalSolidList"/>
    <dgm:cxn modelId="{02925107-5B25-460F-A2AB-91C6441A8FFC}" type="presParOf" srcId="{D421EBED-FA1C-418B-BFA2-E5C132515BA4}" destId="{FFF47A48-7FA0-47BE-B05D-17455E72E377}" srcOrd="0" destOrd="0" presId="urn:microsoft.com/office/officeart/2018/2/layout/IconVerticalSolidList"/>
    <dgm:cxn modelId="{FCE888E8-7E99-446A-9319-6F7C530BA0F5}" type="presParOf" srcId="{D421EBED-FA1C-418B-BFA2-E5C132515BA4}" destId="{9220FD2F-2033-4874-8533-72FA9793A1FC}" srcOrd="1" destOrd="0" presId="urn:microsoft.com/office/officeart/2018/2/layout/IconVerticalSolidList"/>
    <dgm:cxn modelId="{E58135C9-B649-4FFA-A0BB-E797FDCC4689}" type="presParOf" srcId="{D421EBED-FA1C-418B-BFA2-E5C132515BA4}" destId="{71792FEB-4582-4950-A16E-024805E3932E}" srcOrd="2" destOrd="0" presId="urn:microsoft.com/office/officeart/2018/2/layout/IconVerticalSolidList"/>
    <dgm:cxn modelId="{5FEC3D9D-0612-44A6-9182-65E121B7C509}" type="presParOf" srcId="{D421EBED-FA1C-418B-BFA2-E5C132515BA4}" destId="{E2E9673B-86A2-4D63-BBFB-E3842C438690}" srcOrd="3" destOrd="0" presId="urn:microsoft.com/office/officeart/2018/2/layout/IconVerticalSolidList"/>
    <dgm:cxn modelId="{6F5E3206-B24B-4181-BD72-C750DD1D3C82}" type="presParOf" srcId="{979F4BF9-08ED-4708-91DD-CEA753014DD0}" destId="{B7B7F092-7573-40DB-95C6-78E5CB685790}" srcOrd="3" destOrd="0" presId="urn:microsoft.com/office/officeart/2018/2/layout/IconVerticalSolidList"/>
    <dgm:cxn modelId="{47C2DDEA-5A56-4E13-8028-3AEC55E13ADF}" type="presParOf" srcId="{979F4BF9-08ED-4708-91DD-CEA753014DD0}" destId="{6E3AA8FA-1306-4FBA-86CF-0C75C90CCA9D}" srcOrd="4" destOrd="0" presId="urn:microsoft.com/office/officeart/2018/2/layout/IconVerticalSolidList"/>
    <dgm:cxn modelId="{F1DCE56F-AEC3-43BB-94B5-D47319B6031F}" type="presParOf" srcId="{6E3AA8FA-1306-4FBA-86CF-0C75C90CCA9D}" destId="{A8DFE761-DA6F-4E23-A925-76C247875569}" srcOrd="0" destOrd="0" presId="urn:microsoft.com/office/officeart/2018/2/layout/IconVerticalSolidList"/>
    <dgm:cxn modelId="{68008824-E496-424D-818A-08BCA3679D33}" type="presParOf" srcId="{6E3AA8FA-1306-4FBA-86CF-0C75C90CCA9D}" destId="{59663BDB-C6DB-46E1-A192-A9ACD6B31AA5}" srcOrd="1" destOrd="0" presId="urn:microsoft.com/office/officeart/2018/2/layout/IconVerticalSolidList"/>
    <dgm:cxn modelId="{2DCE02CF-AB34-493C-BE86-8F193D9537BB}" type="presParOf" srcId="{6E3AA8FA-1306-4FBA-86CF-0C75C90CCA9D}" destId="{AFAF9626-3201-4136-99CB-78D6D41DD911}" srcOrd="2" destOrd="0" presId="urn:microsoft.com/office/officeart/2018/2/layout/IconVerticalSolidList"/>
    <dgm:cxn modelId="{85AA15E5-6A89-4F92-AB45-370880770033}" type="presParOf" srcId="{6E3AA8FA-1306-4FBA-86CF-0C75C90CCA9D}" destId="{B0CB2613-8620-4827-AF14-71CA556F989D}" srcOrd="3" destOrd="0" presId="urn:microsoft.com/office/officeart/2018/2/layout/IconVerticalSolidList"/>
    <dgm:cxn modelId="{6A4CD2EF-3222-4A43-AC72-908C9A7C610D}" type="presParOf" srcId="{979F4BF9-08ED-4708-91DD-CEA753014DD0}" destId="{BD409035-20B8-48BB-B833-DD5D6CB48959}" srcOrd="5" destOrd="0" presId="urn:microsoft.com/office/officeart/2018/2/layout/IconVerticalSolidList"/>
    <dgm:cxn modelId="{6D6A5C9E-42E6-4730-9842-0308C6540C60}" type="presParOf" srcId="{979F4BF9-08ED-4708-91DD-CEA753014DD0}" destId="{D8CFB508-65EA-4638-B75C-166D5EBD9396}" srcOrd="6" destOrd="0" presId="urn:microsoft.com/office/officeart/2018/2/layout/IconVerticalSolidList"/>
    <dgm:cxn modelId="{805AE8D4-2538-4E09-9811-427F6DC953D3}" type="presParOf" srcId="{D8CFB508-65EA-4638-B75C-166D5EBD9396}" destId="{47FC9958-B5C5-4FD0-A405-D0E62E0D7F71}" srcOrd="0" destOrd="0" presId="urn:microsoft.com/office/officeart/2018/2/layout/IconVerticalSolidList"/>
    <dgm:cxn modelId="{43B32057-384B-49B9-85CC-BFD4049D7571}" type="presParOf" srcId="{D8CFB508-65EA-4638-B75C-166D5EBD9396}" destId="{ECDFED38-EA35-447A-902C-C79BCAF305E0}" srcOrd="1" destOrd="0" presId="urn:microsoft.com/office/officeart/2018/2/layout/IconVerticalSolidList"/>
    <dgm:cxn modelId="{257ABD12-CFD4-4A48-8CD9-C66FA3EF137D}" type="presParOf" srcId="{D8CFB508-65EA-4638-B75C-166D5EBD9396}" destId="{05DD6B57-97A0-417B-8294-441B67821543}" srcOrd="2" destOrd="0" presId="urn:microsoft.com/office/officeart/2018/2/layout/IconVerticalSolidList"/>
    <dgm:cxn modelId="{5F304F07-03FA-41D8-BC80-A94FD3B45787}" type="presParOf" srcId="{D8CFB508-65EA-4638-B75C-166D5EBD9396}" destId="{1CDD4BB8-BC3C-4E9D-BDFE-09E9D2122AD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6D94A4-C7BD-4844-BC4E-8696CE2F908C}"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3C906702-02D8-4E55-AFB7-1B633FD7F0BF}">
      <dgm:prSet/>
      <dgm:spPr/>
      <dgm:t>
        <a:bodyPr/>
        <a:lstStyle/>
        <a:p>
          <a:r>
            <a:rPr lang="en-US"/>
            <a:t>Blame Culture &amp; Fear of Punishment</a:t>
          </a:r>
        </a:p>
      </dgm:t>
    </dgm:pt>
    <dgm:pt modelId="{987DEA09-DC07-4EA1-80D8-1ECE3503842B}" type="parTrans" cxnId="{6D8D4E32-55E0-4440-93FA-A331DC40ECE0}">
      <dgm:prSet/>
      <dgm:spPr/>
      <dgm:t>
        <a:bodyPr/>
        <a:lstStyle/>
        <a:p>
          <a:endParaRPr lang="en-US"/>
        </a:p>
      </dgm:t>
    </dgm:pt>
    <dgm:pt modelId="{619A3B82-1DB8-491F-BF9D-7362DA339142}" type="sibTrans" cxnId="{6D8D4E32-55E0-4440-93FA-A331DC40ECE0}">
      <dgm:prSet/>
      <dgm:spPr/>
      <dgm:t>
        <a:bodyPr/>
        <a:lstStyle/>
        <a:p>
          <a:endParaRPr lang="en-US"/>
        </a:p>
      </dgm:t>
    </dgm:pt>
    <dgm:pt modelId="{72BA7052-6414-4F02-8FCD-FDF7D4791C15}">
      <dgm:prSet/>
      <dgm:spPr/>
      <dgm:t>
        <a:bodyPr/>
        <a:lstStyle/>
        <a:p>
          <a:r>
            <a:rPr lang="en-US"/>
            <a:t>Inconsistent or Unclear Accountability</a:t>
          </a:r>
        </a:p>
      </dgm:t>
    </dgm:pt>
    <dgm:pt modelId="{F40A8A72-D0DE-4AEA-9314-207B727D6A12}" type="parTrans" cxnId="{E79D3FDC-A726-43C6-92D3-83708F1713A0}">
      <dgm:prSet/>
      <dgm:spPr/>
      <dgm:t>
        <a:bodyPr/>
        <a:lstStyle/>
        <a:p>
          <a:endParaRPr lang="en-US"/>
        </a:p>
      </dgm:t>
    </dgm:pt>
    <dgm:pt modelId="{A6529039-112C-464C-8C54-710B4C073673}" type="sibTrans" cxnId="{E79D3FDC-A726-43C6-92D3-83708F1713A0}">
      <dgm:prSet/>
      <dgm:spPr/>
      <dgm:t>
        <a:bodyPr/>
        <a:lstStyle/>
        <a:p>
          <a:endParaRPr lang="en-US"/>
        </a:p>
      </dgm:t>
    </dgm:pt>
    <dgm:pt modelId="{2C8425CA-21B5-4153-9879-53C43DA84498}">
      <dgm:prSet/>
      <dgm:spPr/>
      <dgm:t>
        <a:bodyPr/>
        <a:lstStyle/>
        <a:p>
          <a:r>
            <a:rPr lang="en-US"/>
            <a:t>Low Trust &amp; Limited Psychological Safety</a:t>
          </a:r>
        </a:p>
      </dgm:t>
    </dgm:pt>
    <dgm:pt modelId="{B2E67C67-5E5C-4E77-BEE7-891ABECC149E}" type="parTrans" cxnId="{F6389154-C007-48E1-ACD1-0CB07B2AA136}">
      <dgm:prSet/>
      <dgm:spPr/>
      <dgm:t>
        <a:bodyPr/>
        <a:lstStyle/>
        <a:p>
          <a:endParaRPr lang="en-US"/>
        </a:p>
      </dgm:t>
    </dgm:pt>
    <dgm:pt modelId="{A9C26B51-9C25-48F5-AC71-87AC5593CB50}" type="sibTrans" cxnId="{F6389154-C007-48E1-ACD1-0CB07B2AA136}">
      <dgm:prSet/>
      <dgm:spPr/>
      <dgm:t>
        <a:bodyPr/>
        <a:lstStyle/>
        <a:p>
          <a:endParaRPr lang="en-US"/>
        </a:p>
      </dgm:t>
    </dgm:pt>
    <dgm:pt modelId="{43CF7D51-7A4A-45F0-BAD8-6CCE86C56EB4}">
      <dgm:prSet/>
      <dgm:spPr/>
      <dgm:t>
        <a:bodyPr/>
        <a:lstStyle/>
        <a:p>
          <a:r>
            <a:rPr lang="en-US"/>
            <a:t>Legal/Regulatory &amp; Data-Use Concerns</a:t>
          </a:r>
        </a:p>
      </dgm:t>
    </dgm:pt>
    <dgm:pt modelId="{89EC2D3D-5320-4A87-98BC-AED433E2658F}" type="parTrans" cxnId="{9FC2C20D-B22F-4E47-9AEE-474CF8C2AEFD}">
      <dgm:prSet/>
      <dgm:spPr/>
      <dgm:t>
        <a:bodyPr/>
        <a:lstStyle/>
        <a:p>
          <a:endParaRPr lang="en-US"/>
        </a:p>
      </dgm:t>
    </dgm:pt>
    <dgm:pt modelId="{9110FDE6-447C-45FB-9819-5A71EC7B1152}" type="sibTrans" cxnId="{9FC2C20D-B22F-4E47-9AEE-474CF8C2AEFD}">
      <dgm:prSet/>
      <dgm:spPr/>
      <dgm:t>
        <a:bodyPr/>
        <a:lstStyle/>
        <a:p>
          <a:endParaRPr lang="en-US"/>
        </a:p>
      </dgm:t>
    </dgm:pt>
    <dgm:pt modelId="{770D60F2-C55E-4D6C-BE7D-9163D7F073D5}" type="pres">
      <dgm:prSet presAssocID="{886D94A4-C7BD-4844-BC4E-8696CE2F908C}" presName="outerComposite" presStyleCnt="0">
        <dgm:presLayoutVars>
          <dgm:chMax val="5"/>
          <dgm:dir/>
          <dgm:resizeHandles val="exact"/>
        </dgm:presLayoutVars>
      </dgm:prSet>
      <dgm:spPr/>
    </dgm:pt>
    <dgm:pt modelId="{FFD18893-BDB2-4922-829E-35FA7CC8F5FC}" type="pres">
      <dgm:prSet presAssocID="{886D94A4-C7BD-4844-BC4E-8696CE2F908C}" presName="dummyMaxCanvas" presStyleCnt="0">
        <dgm:presLayoutVars/>
      </dgm:prSet>
      <dgm:spPr/>
    </dgm:pt>
    <dgm:pt modelId="{0E033938-DA3B-4142-B9A2-28964D95C0B1}" type="pres">
      <dgm:prSet presAssocID="{886D94A4-C7BD-4844-BC4E-8696CE2F908C}" presName="FourNodes_1" presStyleLbl="node1" presStyleIdx="0" presStyleCnt="4">
        <dgm:presLayoutVars>
          <dgm:bulletEnabled val="1"/>
        </dgm:presLayoutVars>
      </dgm:prSet>
      <dgm:spPr/>
    </dgm:pt>
    <dgm:pt modelId="{4018D5B5-6484-4ACA-BB19-BAD41C770CC2}" type="pres">
      <dgm:prSet presAssocID="{886D94A4-C7BD-4844-BC4E-8696CE2F908C}" presName="FourNodes_2" presStyleLbl="node1" presStyleIdx="1" presStyleCnt="4">
        <dgm:presLayoutVars>
          <dgm:bulletEnabled val="1"/>
        </dgm:presLayoutVars>
      </dgm:prSet>
      <dgm:spPr/>
    </dgm:pt>
    <dgm:pt modelId="{CFCEC9B4-4811-4020-99C3-31019B1437F4}" type="pres">
      <dgm:prSet presAssocID="{886D94A4-C7BD-4844-BC4E-8696CE2F908C}" presName="FourNodes_3" presStyleLbl="node1" presStyleIdx="2" presStyleCnt="4">
        <dgm:presLayoutVars>
          <dgm:bulletEnabled val="1"/>
        </dgm:presLayoutVars>
      </dgm:prSet>
      <dgm:spPr/>
    </dgm:pt>
    <dgm:pt modelId="{B23F58FF-9D73-4BE7-B358-71E25ABAEF1C}" type="pres">
      <dgm:prSet presAssocID="{886D94A4-C7BD-4844-BC4E-8696CE2F908C}" presName="FourNodes_4" presStyleLbl="node1" presStyleIdx="3" presStyleCnt="4">
        <dgm:presLayoutVars>
          <dgm:bulletEnabled val="1"/>
        </dgm:presLayoutVars>
      </dgm:prSet>
      <dgm:spPr/>
    </dgm:pt>
    <dgm:pt modelId="{707DFEA1-5B0C-4C64-A15F-0FDF2389B175}" type="pres">
      <dgm:prSet presAssocID="{886D94A4-C7BD-4844-BC4E-8696CE2F908C}" presName="FourConn_1-2" presStyleLbl="fgAccFollowNode1" presStyleIdx="0" presStyleCnt="3">
        <dgm:presLayoutVars>
          <dgm:bulletEnabled val="1"/>
        </dgm:presLayoutVars>
      </dgm:prSet>
      <dgm:spPr/>
    </dgm:pt>
    <dgm:pt modelId="{D27E8F0A-7203-411C-BFCA-28E7D597209E}" type="pres">
      <dgm:prSet presAssocID="{886D94A4-C7BD-4844-BC4E-8696CE2F908C}" presName="FourConn_2-3" presStyleLbl="fgAccFollowNode1" presStyleIdx="1" presStyleCnt="3">
        <dgm:presLayoutVars>
          <dgm:bulletEnabled val="1"/>
        </dgm:presLayoutVars>
      </dgm:prSet>
      <dgm:spPr/>
    </dgm:pt>
    <dgm:pt modelId="{BD811963-7B9B-4D03-A74A-5BC9A3510FE7}" type="pres">
      <dgm:prSet presAssocID="{886D94A4-C7BD-4844-BC4E-8696CE2F908C}" presName="FourConn_3-4" presStyleLbl="fgAccFollowNode1" presStyleIdx="2" presStyleCnt="3">
        <dgm:presLayoutVars>
          <dgm:bulletEnabled val="1"/>
        </dgm:presLayoutVars>
      </dgm:prSet>
      <dgm:spPr/>
    </dgm:pt>
    <dgm:pt modelId="{7A7D2062-9DA3-44E7-9DFC-565FE1B90867}" type="pres">
      <dgm:prSet presAssocID="{886D94A4-C7BD-4844-BC4E-8696CE2F908C}" presName="FourNodes_1_text" presStyleLbl="node1" presStyleIdx="3" presStyleCnt="4">
        <dgm:presLayoutVars>
          <dgm:bulletEnabled val="1"/>
        </dgm:presLayoutVars>
      </dgm:prSet>
      <dgm:spPr/>
    </dgm:pt>
    <dgm:pt modelId="{71D5A2F7-E75D-4632-AFB6-CE93BAFB95D7}" type="pres">
      <dgm:prSet presAssocID="{886D94A4-C7BD-4844-BC4E-8696CE2F908C}" presName="FourNodes_2_text" presStyleLbl="node1" presStyleIdx="3" presStyleCnt="4">
        <dgm:presLayoutVars>
          <dgm:bulletEnabled val="1"/>
        </dgm:presLayoutVars>
      </dgm:prSet>
      <dgm:spPr/>
    </dgm:pt>
    <dgm:pt modelId="{E4FF0E14-610C-46F0-91B9-4BC7AB099028}" type="pres">
      <dgm:prSet presAssocID="{886D94A4-C7BD-4844-BC4E-8696CE2F908C}" presName="FourNodes_3_text" presStyleLbl="node1" presStyleIdx="3" presStyleCnt="4">
        <dgm:presLayoutVars>
          <dgm:bulletEnabled val="1"/>
        </dgm:presLayoutVars>
      </dgm:prSet>
      <dgm:spPr/>
    </dgm:pt>
    <dgm:pt modelId="{8E3D39FD-C2C9-47C9-953E-C5F8B8F32FDE}" type="pres">
      <dgm:prSet presAssocID="{886D94A4-C7BD-4844-BC4E-8696CE2F908C}" presName="FourNodes_4_text" presStyleLbl="node1" presStyleIdx="3" presStyleCnt="4">
        <dgm:presLayoutVars>
          <dgm:bulletEnabled val="1"/>
        </dgm:presLayoutVars>
      </dgm:prSet>
      <dgm:spPr/>
    </dgm:pt>
  </dgm:ptLst>
  <dgm:cxnLst>
    <dgm:cxn modelId="{9FC2C20D-B22F-4E47-9AEE-474CF8C2AEFD}" srcId="{886D94A4-C7BD-4844-BC4E-8696CE2F908C}" destId="{43CF7D51-7A4A-45F0-BAD8-6CCE86C56EB4}" srcOrd="3" destOrd="0" parTransId="{89EC2D3D-5320-4A87-98BC-AED433E2658F}" sibTransId="{9110FDE6-447C-45FB-9819-5A71EC7B1152}"/>
    <dgm:cxn modelId="{6BCAB50F-4836-41E6-A367-475E2E2052DA}" type="presOf" srcId="{3C906702-02D8-4E55-AFB7-1B633FD7F0BF}" destId="{7A7D2062-9DA3-44E7-9DFC-565FE1B90867}" srcOrd="1" destOrd="0" presId="urn:microsoft.com/office/officeart/2005/8/layout/vProcess5"/>
    <dgm:cxn modelId="{921A6C12-0AC7-42AE-B80C-399180977FF7}" type="presOf" srcId="{2C8425CA-21B5-4153-9879-53C43DA84498}" destId="{E4FF0E14-610C-46F0-91B9-4BC7AB099028}" srcOrd="1" destOrd="0" presId="urn:microsoft.com/office/officeart/2005/8/layout/vProcess5"/>
    <dgm:cxn modelId="{B755992A-3839-43BC-9F8F-8DD6691828CA}" type="presOf" srcId="{43CF7D51-7A4A-45F0-BAD8-6CCE86C56EB4}" destId="{B23F58FF-9D73-4BE7-B358-71E25ABAEF1C}" srcOrd="0" destOrd="0" presId="urn:microsoft.com/office/officeart/2005/8/layout/vProcess5"/>
    <dgm:cxn modelId="{6D8D4E32-55E0-4440-93FA-A331DC40ECE0}" srcId="{886D94A4-C7BD-4844-BC4E-8696CE2F908C}" destId="{3C906702-02D8-4E55-AFB7-1B633FD7F0BF}" srcOrd="0" destOrd="0" parTransId="{987DEA09-DC07-4EA1-80D8-1ECE3503842B}" sibTransId="{619A3B82-1DB8-491F-BF9D-7362DA339142}"/>
    <dgm:cxn modelId="{EF22DD37-32A5-424B-9D0A-E3DAF6D281C7}" type="presOf" srcId="{2C8425CA-21B5-4153-9879-53C43DA84498}" destId="{CFCEC9B4-4811-4020-99C3-31019B1437F4}" srcOrd="0" destOrd="0" presId="urn:microsoft.com/office/officeart/2005/8/layout/vProcess5"/>
    <dgm:cxn modelId="{BF08BB3B-E239-41F9-94E4-7D829F5A1F17}" type="presOf" srcId="{619A3B82-1DB8-491F-BF9D-7362DA339142}" destId="{707DFEA1-5B0C-4C64-A15F-0FDF2389B175}" srcOrd="0" destOrd="0" presId="urn:microsoft.com/office/officeart/2005/8/layout/vProcess5"/>
    <dgm:cxn modelId="{CF7BDD68-5BD3-4FF0-9BDF-CA2FCFC33090}" type="presOf" srcId="{72BA7052-6414-4F02-8FCD-FDF7D4791C15}" destId="{71D5A2F7-E75D-4632-AFB6-CE93BAFB95D7}" srcOrd="1" destOrd="0" presId="urn:microsoft.com/office/officeart/2005/8/layout/vProcess5"/>
    <dgm:cxn modelId="{554D346B-051B-4609-B78F-E56A0F83DFA7}" type="presOf" srcId="{72BA7052-6414-4F02-8FCD-FDF7D4791C15}" destId="{4018D5B5-6484-4ACA-BB19-BAD41C770CC2}" srcOrd="0" destOrd="0" presId="urn:microsoft.com/office/officeart/2005/8/layout/vProcess5"/>
    <dgm:cxn modelId="{F6389154-C007-48E1-ACD1-0CB07B2AA136}" srcId="{886D94A4-C7BD-4844-BC4E-8696CE2F908C}" destId="{2C8425CA-21B5-4153-9879-53C43DA84498}" srcOrd="2" destOrd="0" parTransId="{B2E67C67-5E5C-4E77-BEE7-891ABECC149E}" sibTransId="{A9C26B51-9C25-48F5-AC71-87AC5593CB50}"/>
    <dgm:cxn modelId="{654DCB7D-8B31-4088-95B6-E8A56B8BB6CD}" type="presOf" srcId="{886D94A4-C7BD-4844-BC4E-8696CE2F908C}" destId="{770D60F2-C55E-4D6C-BE7D-9163D7F073D5}" srcOrd="0" destOrd="0" presId="urn:microsoft.com/office/officeart/2005/8/layout/vProcess5"/>
    <dgm:cxn modelId="{98A2C5A3-1C2A-4325-AA3D-DFB506A58193}" type="presOf" srcId="{43CF7D51-7A4A-45F0-BAD8-6CCE86C56EB4}" destId="{8E3D39FD-C2C9-47C9-953E-C5F8B8F32FDE}" srcOrd="1" destOrd="0" presId="urn:microsoft.com/office/officeart/2005/8/layout/vProcess5"/>
    <dgm:cxn modelId="{8EB08DB1-CF76-44E8-8D28-5EB0C971D853}" type="presOf" srcId="{A6529039-112C-464C-8C54-710B4C073673}" destId="{D27E8F0A-7203-411C-BFCA-28E7D597209E}" srcOrd="0" destOrd="0" presId="urn:microsoft.com/office/officeart/2005/8/layout/vProcess5"/>
    <dgm:cxn modelId="{C03F3ED9-7CE8-48C7-A2E6-11DC2707B68E}" type="presOf" srcId="{A9C26B51-9C25-48F5-AC71-87AC5593CB50}" destId="{BD811963-7B9B-4D03-A74A-5BC9A3510FE7}" srcOrd="0" destOrd="0" presId="urn:microsoft.com/office/officeart/2005/8/layout/vProcess5"/>
    <dgm:cxn modelId="{E79D3FDC-A726-43C6-92D3-83708F1713A0}" srcId="{886D94A4-C7BD-4844-BC4E-8696CE2F908C}" destId="{72BA7052-6414-4F02-8FCD-FDF7D4791C15}" srcOrd="1" destOrd="0" parTransId="{F40A8A72-D0DE-4AEA-9314-207B727D6A12}" sibTransId="{A6529039-112C-464C-8C54-710B4C073673}"/>
    <dgm:cxn modelId="{5B22A4E7-44C4-42C6-88DC-7677CA0932BE}" type="presOf" srcId="{3C906702-02D8-4E55-AFB7-1B633FD7F0BF}" destId="{0E033938-DA3B-4142-B9A2-28964D95C0B1}" srcOrd="0" destOrd="0" presId="urn:microsoft.com/office/officeart/2005/8/layout/vProcess5"/>
    <dgm:cxn modelId="{7B43521E-F4B9-4DDC-93A4-FF4E9E627A3B}" type="presParOf" srcId="{770D60F2-C55E-4D6C-BE7D-9163D7F073D5}" destId="{FFD18893-BDB2-4922-829E-35FA7CC8F5FC}" srcOrd="0" destOrd="0" presId="urn:microsoft.com/office/officeart/2005/8/layout/vProcess5"/>
    <dgm:cxn modelId="{78212DE8-5D4B-4D9E-A6A0-D82799734352}" type="presParOf" srcId="{770D60F2-C55E-4D6C-BE7D-9163D7F073D5}" destId="{0E033938-DA3B-4142-B9A2-28964D95C0B1}" srcOrd="1" destOrd="0" presId="urn:microsoft.com/office/officeart/2005/8/layout/vProcess5"/>
    <dgm:cxn modelId="{612FDE6E-0E70-444C-A35A-177476CE3FF0}" type="presParOf" srcId="{770D60F2-C55E-4D6C-BE7D-9163D7F073D5}" destId="{4018D5B5-6484-4ACA-BB19-BAD41C770CC2}" srcOrd="2" destOrd="0" presId="urn:microsoft.com/office/officeart/2005/8/layout/vProcess5"/>
    <dgm:cxn modelId="{3E6189B4-E620-4388-88FD-3F1BCEA025EC}" type="presParOf" srcId="{770D60F2-C55E-4D6C-BE7D-9163D7F073D5}" destId="{CFCEC9B4-4811-4020-99C3-31019B1437F4}" srcOrd="3" destOrd="0" presId="urn:microsoft.com/office/officeart/2005/8/layout/vProcess5"/>
    <dgm:cxn modelId="{7574471A-50FF-4C95-88D5-A95494FF5F43}" type="presParOf" srcId="{770D60F2-C55E-4D6C-BE7D-9163D7F073D5}" destId="{B23F58FF-9D73-4BE7-B358-71E25ABAEF1C}" srcOrd="4" destOrd="0" presId="urn:microsoft.com/office/officeart/2005/8/layout/vProcess5"/>
    <dgm:cxn modelId="{6DF517C8-5C51-4739-BDEA-61486B8122BE}" type="presParOf" srcId="{770D60F2-C55E-4D6C-BE7D-9163D7F073D5}" destId="{707DFEA1-5B0C-4C64-A15F-0FDF2389B175}" srcOrd="5" destOrd="0" presId="urn:microsoft.com/office/officeart/2005/8/layout/vProcess5"/>
    <dgm:cxn modelId="{AE7A146E-ECAA-4EEA-95CB-E7DCC693F4B1}" type="presParOf" srcId="{770D60F2-C55E-4D6C-BE7D-9163D7F073D5}" destId="{D27E8F0A-7203-411C-BFCA-28E7D597209E}" srcOrd="6" destOrd="0" presId="urn:microsoft.com/office/officeart/2005/8/layout/vProcess5"/>
    <dgm:cxn modelId="{1BCF1CD1-957D-4162-A463-376611491963}" type="presParOf" srcId="{770D60F2-C55E-4D6C-BE7D-9163D7F073D5}" destId="{BD811963-7B9B-4D03-A74A-5BC9A3510FE7}" srcOrd="7" destOrd="0" presId="urn:microsoft.com/office/officeart/2005/8/layout/vProcess5"/>
    <dgm:cxn modelId="{2EB8E5B2-5F31-49E0-B91A-3F4443862571}" type="presParOf" srcId="{770D60F2-C55E-4D6C-BE7D-9163D7F073D5}" destId="{7A7D2062-9DA3-44E7-9DFC-565FE1B90867}" srcOrd="8" destOrd="0" presId="urn:microsoft.com/office/officeart/2005/8/layout/vProcess5"/>
    <dgm:cxn modelId="{C77A3069-2F6A-4F1B-B462-B00C3C90E126}" type="presParOf" srcId="{770D60F2-C55E-4D6C-BE7D-9163D7F073D5}" destId="{71D5A2F7-E75D-4632-AFB6-CE93BAFB95D7}" srcOrd="9" destOrd="0" presId="urn:microsoft.com/office/officeart/2005/8/layout/vProcess5"/>
    <dgm:cxn modelId="{80714E3C-51A5-426B-A736-0BFA0BD6DF1A}" type="presParOf" srcId="{770D60F2-C55E-4D6C-BE7D-9163D7F073D5}" destId="{E4FF0E14-610C-46F0-91B9-4BC7AB099028}" srcOrd="10" destOrd="0" presId="urn:microsoft.com/office/officeart/2005/8/layout/vProcess5"/>
    <dgm:cxn modelId="{2412B84A-242C-4E3E-A9AF-50E5B81F68C0}" type="presParOf" srcId="{770D60F2-C55E-4D6C-BE7D-9163D7F073D5}" destId="{8E3D39FD-C2C9-47C9-953E-C5F8B8F32FD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1EDEFE-6CD0-40C1-9041-3A6C91EBD3D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28140E4C-3DCD-408C-A586-0CAB532D8F07}">
      <dgm:prSet custT="1"/>
      <dgm:spPr/>
      <dgm:t>
        <a:bodyPr/>
        <a:lstStyle/>
        <a:p>
          <a:pPr>
            <a:lnSpc>
              <a:spcPct val="100000"/>
            </a:lnSpc>
          </a:pPr>
          <a:r>
            <a:rPr lang="en-US" sz="1800" dirty="0"/>
            <a:t>Under-reporting of errors or near-misses due to fear of negative consequences is widespread across domains.</a:t>
          </a:r>
        </a:p>
      </dgm:t>
    </dgm:pt>
    <dgm:pt modelId="{B1280E11-75D9-42D6-824B-14713776E2CB}" type="parTrans" cxnId="{AE684934-9237-492A-A939-A37BDCCC517A}">
      <dgm:prSet/>
      <dgm:spPr/>
      <dgm:t>
        <a:bodyPr/>
        <a:lstStyle/>
        <a:p>
          <a:endParaRPr lang="en-US" sz="2400"/>
        </a:p>
      </dgm:t>
    </dgm:pt>
    <dgm:pt modelId="{19C4386A-3E78-4471-B797-673BBA448138}" type="sibTrans" cxnId="{AE684934-9237-492A-A939-A37BDCCC517A}">
      <dgm:prSet/>
      <dgm:spPr/>
      <dgm:t>
        <a:bodyPr/>
        <a:lstStyle/>
        <a:p>
          <a:pPr>
            <a:lnSpc>
              <a:spcPct val="100000"/>
            </a:lnSpc>
          </a:pPr>
          <a:endParaRPr lang="en-US" sz="2400"/>
        </a:p>
      </dgm:t>
    </dgm:pt>
    <dgm:pt modelId="{53BBC87B-8BB6-4786-B3C2-41E4E1EDB76B}">
      <dgm:prSet custT="1"/>
      <dgm:spPr/>
      <dgm:t>
        <a:bodyPr/>
        <a:lstStyle/>
        <a:p>
          <a:pPr>
            <a:lnSpc>
              <a:spcPct val="100000"/>
            </a:lnSpc>
          </a:pPr>
          <a:r>
            <a:rPr lang="en-US" sz="1800"/>
            <a:t>Outcome bias: severe outcomes trigger punitive responses, even when behaviors were reasonable.</a:t>
          </a:r>
        </a:p>
      </dgm:t>
    </dgm:pt>
    <dgm:pt modelId="{28CE4F78-5F6E-4081-A485-776CDE51BB1F}" type="parTrans" cxnId="{2904AD08-DF7B-4014-9610-0D9CEE8228F0}">
      <dgm:prSet/>
      <dgm:spPr/>
      <dgm:t>
        <a:bodyPr/>
        <a:lstStyle/>
        <a:p>
          <a:endParaRPr lang="en-US" sz="2400"/>
        </a:p>
      </dgm:t>
    </dgm:pt>
    <dgm:pt modelId="{530A7B1E-6BE1-452E-A6AA-9C4836D438E8}" type="sibTrans" cxnId="{2904AD08-DF7B-4014-9610-0D9CEE8228F0}">
      <dgm:prSet/>
      <dgm:spPr/>
      <dgm:t>
        <a:bodyPr/>
        <a:lstStyle/>
        <a:p>
          <a:endParaRPr lang="en-US" sz="2400"/>
        </a:p>
      </dgm:t>
    </dgm:pt>
    <dgm:pt modelId="{ACF9C07C-A566-424A-98D7-0CDB58AE48B0}" type="pres">
      <dgm:prSet presAssocID="{B51EDEFE-6CD0-40C1-9041-3A6C91EBD3D8}" presName="root" presStyleCnt="0">
        <dgm:presLayoutVars>
          <dgm:dir/>
          <dgm:resizeHandles val="exact"/>
        </dgm:presLayoutVars>
      </dgm:prSet>
      <dgm:spPr/>
    </dgm:pt>
    <dgm:pt modelId="{C4788764-7226-456F-9F5F-959C3DBCD571}" type="pres">
      <dgm:prSet presAssocID="{B51EDEFE-6CD0-40C1-9041-3A6C91EBD3D8}" presName="container" presStyleCnt="0">
        <dgm:presLayoutVars>
          <dgm:dir/>
          <dgm:resizeHandles val="exact"/>
        </dgm:presLayoutVars>
      </dgm:prSet>
      <dgm:spPr/>
    </dgm:pt>
    <dgm:pt modelId="{3950204B-25DF-407D-A6FF-E29A1FEE622D}" type="pres">
      <dgm:prSet presAssocID="{28140E4C-3DCD-408C-A586-0CAB532D8F07}" presName="compNode" presStyleCnt="0"/>
      <dgm:spPr/>
    </dgm:pt>
    <dgm:pt modelId="{F8EB00D8-4567-44F1-8DBE-5E01C18D5850}" type="pres">
      <dgm:prSet presAssocID="{28140E4C-3DCD-408C-A586-0CAB532D8F07}" presName="iconBgRect" presStyleLbl="bgShp" presStyleIdx="0" presStyleCnt="2"/>
      <dgm:spPr/>
    </dgm:pt>
    <dgm:pt modelId="{90FB1ED5-7713-4675-8EB6-DFFE6CED7297}" type="pres">
      <dgm:prSet presAssocID="{28140E4C-3DCD-408C-A586-0CAB532D8F0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04AD7FC1-4785-4D4D-A6EE-4D1E275D7039}" type="pres">
      <dgm:prSet presAssocID="{28140E4C-3DCD-408C-A586-0CAB532D8F07}" presName="spaceRect" presStyleCnt="0"/>
      <dgm:spPr/>
    </dgm:pt>
    <dgm:pt modelId="{BC0EEE1E-4621-40DE-8FA4-0FCCB1FB1D03}" type="pres">
      <dgm:prSet presAssocID="{28140E4C-3DCD-408C-A586-0CAB532D8F07}" presName="textRect" presStyleLbl="revTx" presStyleIdx="0" presStyleCnt="2">
        <dgm:presLayoutVars>
          <dgm:chMax val="1"/>
          <dgm:chPref val="1"/>
        </dgm:presLayoutVars>
      </dgm:prSet>
      <dgm:spPr/>
    </dgm:pt>
    <dgm:pt modelId="{682D6A86-353A-4510-9F52-06F99AB24CD3}" type="pres">
      <dgm:prSet presAssocID="{19C4386A-3E78-4471-B797-673BBA448138}" presName="sibTrans" presStyleLbl="sibTrans2D1" presStyleIdx="0" presStyleCnt="0"/>
      <dgm:spPr/>
    </dgm:pt>
    <dgm:pt modelId="{4160B27F-DAA6-4628-A7E2-3CF9AD5B710A}" type="pres">
      <dgm:prSet presAssocID="{53BBC87B-8BB6-4786-B3C2-41E4E1EDB76B}" presName="compNode" presStyleCnt="0"/>
      <dgm:spPr/>
    </dgm:pt>
    <dgm:pt modelId="{73976377-17FF-4BB4-818C-913612C37D21}" type="pres">
      <dgm:prSet presAssocID="{53BBC87B-8BB6-4786-B3C2-41E4E1EDB76B}" presName="iconBgRect" presStyleLbl="bgShp" presStyleIdx="1" presStyleCnt="2"/>
      <dgm:spPr/>
    </dgm:pt>
    <dgm:pt modelId="{747BDE40-04DF-4808-999E-4B95A83C0083}" type="pres">
      <dgm:prSet presAssocID="{53BBC87B-8BB6-4786-B3C2-41E4E1EDB76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erson with Idea"/>
        </a:ext>
      </dgm:extLst>
    </dgm:pt>
    <dgm:pt modelId="{C182F7AE-7BB0-4FD5-9D0F-BF2C95E2293D}" type="pres">
      <dgm:prSet presAssocID="{53BBC87B-8BB6-4786-B3C2-41E4E1EDB76B}" presName="spaceRect" presStyleCnt="0"/>
      <dgm:spPr/>
    </dgm:pt>
    <dgm:pt modelId="{C718B4F2-2060-47E3-956F-2BDF055076C9}" type="pres">
      <dgm:prSet presAssocID="{53BBC87B-8BB6-4786-B3C2-41E4E1EDB76B}" presName="textRect" presStyleLbl="revTx" presStyleIdx="1" presStyleCnt="2">
        <dgm:presLayoutVars>
          <dgm:chMax val="1"/>
          <dgm:chPref val="1"/>
        </dgm:presLayoutVars>
      </dgm:prSet>
      <dgm:spPr/>
    </dgm:pt>
  </dgm:ptLst>
  <dgm:cxnLst>
    <dgm:cxn modelId="{2904AD08-DF7B-4014-9610-0D9CEE8228F0}" srcId="{B51EDEFE-6CD0-40C1-9041-3A6C91EBD3D8}" destId="{53BBC87B-8BB6-4786-B3C2-41E4E1EDB76B}" srcOrd="1" destOrd="0" parTransId="{28CE4F78-5F6E-4081-A485-776CDE51BB1F}" sibTransId="{530A7B1E-6BE1-452E-A6AA-9C4836D438E8}"/>
    <dgm:cxn modelId="{AE684934-9237-492A-A939-A37BDCCC517A}" srcId="{B51EDEFE-6CD0-40C1-9041-3A6C91EBD3D8}" destId="{28140E4C-3DCD-408C-A586-0CAB532D8F07}" srcOrd="0" destOrd="0" parTransId="{B1280E11-75D9-42D6-824B-14713776E2CB}" sibTransId="{19C4386A-3E78-4471-B797-673BBA448138}"/>
    <dgm:cxn modelId="{2277DE83-D1B3-4948-8B47-F5252C5A5877}" type="presOf" srcId="{B51EDEFE-6CD0-40C1-9041-3A6C91EBD3D8}" destId="{ACF9C07C-A566-424A-98D7-0CDB58AE48B0}" srcOrd="0" destOrd="0" presId="urn:microsoft.com/office/officeart/2018/2/layout/IconCircleList"/>
    <dgm:cxn modelId="{93BC7798-C0C6-4D05-8E4E-0A3188B14D2C}" type="presOf" srcId="{53BBC87B-8BB6-4786-B3C2-41E4E1EDB76B}" destId="{C718B4F2-2060-47E3-956F-2BDF055076C9}" srcOrd="0" destOrd="0" presId="urn:microsoft.com/office/officeart/2018/2/layout/IconCircleList"/>
    <dgm:cxn modelId="{F7B1C7B8-D35C-4BAC-852A-F6544649EE48}" type="presOf" srcId="{19C4386A-3E78-4471-B797-673BBA448138}" destId="{682D6A86-353A-4510-9F52-06F99AB24CD3}" srcOrd="0" destOrd="0" presId="urn:microsoft.com/office/officeart/2018/2/layout/IconCircleList"/>
    <dgm:cxn modelId="{EC71FCDB-66A8-430F-B2F3-57E09D36DE79}" type="presOf" srcId="{28140E4C-3DCD-408C-A586-0CAB532D8F07}" destId="{BC0EEE1E-4621-40DE-8FA4-0FCCB1FB1D03}" srcOrd="0" destOrd="0" presId="urn:microsoft.com/office/officeart/2018/2/layout/IconCircleList"/>
    <dgm:cxn modelId="{AF6DE9A7-EB6F-4D6D-8D9B-014EBB26FE81}" type="presParOf" srcId="{ACF9C07C-A566-424A-98D7-0CDB58AE48B0}" destId="{C4788764-7226-456F-9F5F-959C3DBCD571}" srcOrd="0" destOrd="0" presId="urn:microsoft.com/office/officeart/2018/2/layout/IconCircleList"/>
    <dgm:cxn modelId="{323EE331-8CC2-4F02-8442-B5C5A5DAC0CB}" type="presParOf" srcId="{C4788764-7226-456F-9F5F-959C3DBCD571}" destId="{3950204B-25DF-407D-A6FF-E29A1FEE622D}" srcOrd="0" destOrd="0" presId="urn:microsoft.com/office/officeart/2018/2/layout/IconCircleList"/>
    <dgm:cxn modelId="{59615040-D0DA-437C-AAED-F943E4D5664B}" type="presParOf" srcId="{3950204B-25DF-407D-A6FF-E29A1FEE622D}" destId="{F8EB00D8-4567-44F1-8DBE-5E01C18D5850}" srcOrd="0" destOrd="0" presId="urn:microsoft.com/office/officeart/2018/2/layout/IconCircleList"/>
    <dgm:cxn modelId="{A03D08E4-CF92-4A3E-9DDB-10D335EF1FDB}" type="presParOf" srcId="{3950204B-25DF-407D-A6FF-E29A1FEE622D}" destId="{90FB1ED5-7713-4675-8EB6-DFFE6CED7297}" srcOrd="1" destOrd="0" presId="urn:microsoft.com/office/officeart/2018/2/layout/IconCircleList"/>
    <dgm:cxn modelId="{E7828DFA-731C-463E-98A2-52FA909CD746}" type="presParOf" srcId="{3950204B-25DF-407D-A6FF-E29A1FEE622D}" destId="{04AD7FC1-4785-4D4D-A6EE-4D1E275D7039}" srcOrd="2" destOrd="0" presId="urn:microsoft.com/office/officeart/2018/2/layout/IconCircleList"/>
    <dgm:cxn modelId="{AFDE5BF2-A80C-4530-B4C7-DA6EFD43E7C4}" type="presParOf" srcId="{3950204B-25DF-407D-A6FF-E29A1FEE622D}" destId="{BC0EEE1E-4621-40DE-8FA4-0FCCB1FB1D03}" srcOrd="3" destOrd="0" presId="urn:microsoft.com/office/officeart/2018/2/layout/IconCircleList"/>
    <dgm:cxn modelId="{BD16A565-F886-4F5D-8837-04CA8B57CDA8}" type="presParOf" srcId="{C4788764-7226-456F-9F5F-959C3DBCD571}" destId="{682D6A86-353A-4510-9F52-06F99AB24CD3}" srcOrd="1" destOrd="0" presId="urn:microsoft.com/office/officeart/2018/2/layout/IconCircleList"/>
    <dgm:cxn modelId="{35186C05-F589-4D3E-8F28-F98622C86614}" type="presParOf" srcId="{C4788764-7226-456F-9F5F-959C3DBCD571}" destId="{4160B27F-DAA6-4628-A7E2-3CF9AD5B710A}" srcOrd="2" destOrd="0" presId="urn:microsoft.com/office/officeart/2018/2/layout/IconCircleList"/>
    <dgm:cxn modelId="{B1754273-AF9F-464F-A967-65F0A37C56B0}" type="presParOf" srcId="{4160B27F-DAA6-4628-A7E2-3CF9AD5B710A}" destId="{73976377-17FF-4BB4-818C-913612C37D21}" srcOrd="0" destOrd="0" presId="urn:microsoft.com/office/officeart/2018/2/layout/IconCircleList"/>
    <dgm:cxn modelId="{3C2B6D57-AD16-4409-AA4B-4F4B9CE25E69}" type="presParOf" srcId="{4160B27F-DAA6-4628-A7E2-3CF9AD5B710A}" destId="{747BDE40-04DF-4808-999E-4B95A83C0083}" srcOrd="1" destOrd="0" presId="urn:microsoft.com/office/officeart/2018/2/layout/IconCircleList"/>
    <dgm:cxn modelId="{AA15E43C-6264-4BCB-9BB3-8B99376E19E6}" type="presParOf" srcId="{4160B27F-DAA6-4628-A7E2-3CF9AD5B710A}" destId="{C182F7AE-7BB0-4FD5-9D0F-BF2C95E2293D}" srcOrd="2" destOrd="0" presId="urn:microsoft.com/office/officeart/2018/2/layout/IconCircleList"/>
    <dgm:cxn modelId="{A044AC35-E758-4DD9-BBCE-09089409AD2A}" type="presParOf" srcId="{4160B27F-DAA6-4628-A7E2-3CF9AD5B710A}" destId="{C718B4F2-2060-47E3-956F-2BDF055076C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49874-7070-476D-B1BE-82F3461F0ABE}">
      <dsp:nvSpPr>
        <dsp:cNvPr id="0" name=""/>
        <dsp:cNvSpPr/>
      </dsp:nvSpPr>
      <dsp:spPr>
        <a:xfrm>
          <a:off x="0" y="1741"/>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E93D6B-BEFA-425F-AEC4-7B9A12D50470}">
      <dsp:nvSpPr>
        <dsp:cNvPr id="0" name=""/>
        <dsp:cNvSpPr/>
      </dsp:nvSpPr>
      <dsp:spPr>
        <a:xfrm>
          <a:off x="266964" y="200309"/>
          <a:ext cx="485389" cy="4853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35F683-EB04-42AF-B7AB-88665CEE99D7}">
      <dsp:nvSpPr>
        <dsp:cNvPr id="0" name=""/>
        <dsp:cNvSpPr/>
      </dsp:nvSpPr>
      <dsp:spPr>
        <a:xfrm>
          <a:off x="1019317" y="1741"/>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Balanced accountability: hold individuals accountable for choices while the organization owns system design and safety.</a:t>
          </a:r>
        </a:p>
      </dsp:txBody>
      <dsp:txXfrm>
        <a:off x="1019317" y="1741"/>
        <a:ext cx="7924893" cy="882525"/>
      </dsp:txXfrm>
    </dsp:sp>
    <dsp:sp modelId="{FFF47A48-7FA0-47BE-B05D-17455E72E377}">
      <dsp:nvSpPr>
        <dsp:cNvPr id="0" name=""/>
        <dsp:cNvSpPr/>
      </dsp:nvSpPr>
      <dsp:spPr>
        <a:xfrm>
          <a:off x="0" y="1104898"/>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20FD2F-2033-4874-8533-72FA9793A1FC}">
      <dsp:nvSpPr>
        <dsp:cNvPr id="0" name=""/>
        <dsp:cNvSpPr/>
      </dsp:nvSpPr>
      <dsp:spPr>
        <a:xfrm>
          <a:off x="266964" y="1303467"/>
          <a:ext cx="485389" cy="4853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E9673B-86A2-4D63-BBFB-E3842C438690}">
      <dsp:nvSpPr>
        <dsp:cNvPr id="0" name=""/>
        <dsp:cNvSpPr/>
      </dsp:nvSpPr>
      <dsp:spPr>
        <a:xfrm>
          <a:off x="1019317" y="1104898"/>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Shifts focus from 'who is at fault?' to 'what allowed the error?' — to enable reporting, learning, and system fixes.</a:t>
          </a:r>
        </a:p>
      </dsp:txBody>
      <dsp:txXfrm>
        <a:off x="1019317" y="1104898"/>
        <a:ext cx="7924893" cy="882525"/>
      </dsp:txXfrm>
    </dsp:sp>
    <dsp:sp modelId="{A8DFE761-DA6F-4E23-A925-76C247875569}">
      <dsp:nvSpPr>
        <dsp:cNvPr id="0" name=""/>
        <dsp:cNvSpPr/>
      </dsp:nvSpPr>
      <dsp:spPr>
        <a:xfrm>
          <a:off x="0" y="2208056"/>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663BDB-C6DB-46E1-A192-A9ACD6B31AA5}">
      <dsp:nvSpPr>
        <dsp:cNvPr id="0" name=""/>
        <dsp:cNvSpPr/>
      </dsp:nvSpPr>
      <dsp:spPr>
        <a:xfrm>
          <a:off x="266964" y="2406624"/>
          <a:ext cx="485389" cy="4853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CB2613-8620-4827-AF14-71CA556F989D}">
      <dsp:nvSpPr>
        <dsp:cNvPr id="0" name=""/>
        <dsp:cNvSpPr/>
      </dsp:nvSpPr>
      <dsp:spPr>
        <a:xfrm>
          <a:off x="1019317" y="2208056"/>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A Just Culture is needed to make safety possible and to learn from failures.</a:t>
          </a:r>
        </a:p>
      </dsp:txBody>
      <dsp:txXfrm>
        <a:off x="1019317" y="2208056"/>
        <a:ext cx="7924893" cy="882525"/>
      </dsp:txXfrm>
    </dsp:sp>
    <dsp:sp modelId="{47FC9958-B5C5-4FD0-A405-D0E62E0D7F71}">
      <dsp:nvSpPr>
        <dsp:cNvPr id="0" name=""/>
        <dsp:cNvSpPr/>
      </dsp:nvSpPr>
      <dsp:spPr>
        <a:xfrm>
          <a:off x="0" y="3311213"/>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DFED38-EA35-447A-902C-C79BCAF305E0}">
      <dsp:nvSpPr>
        <dsp:cNvPr id="0" name=""/>
        <dsp:cNvSpPr/>
      </dsp:nvSpPr>
      <dsp:spPr>
        <a:xfrm>
          <a:off x="266964" y="3509782"/>
          <a:ext cx="485389" cy="4853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DD4BB8-BC3C-4E9D-BDFE-09E9D2122AD5}">
      <dsp:nvSpPr>
        <dsp:cNvPr id="0" name=""/>
        <dsp:cNvSpPr/>
      </dsp:nvSpPr>
      <dsp:spPr>
        <a:xfrm>
          <a:off x="1019317" y="3311213"/>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Practices include blameless postmortems, surfacing and sharing discoveries, and proactively injecting learning via experiments.</a:t>
          </a:r>
        </a:p>
      </dsp:txBody>
      <dsp:txXfrm>
        <a:off x="1019317" y="3311213"/>
        <a:ext cx="7924893" cy="8825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33938-DA3B-4142-B9A2-28964D95C0B1}">
      <dsp:nvSpPr>
        <dsp:cNvPr id="0" name=""/>
        <dsp:cNvSpPr/>
      </dsp:nvSpPr>
      <dsp:spPr>
        <a:xfrm>
          <a:off x="0" y="0"/>
          <a:ext cx="7155368" cy="92300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Blame Culture &amp; Fear of Punishment</a:t>
          </a:r>
        </a:p>
      </dsp:txBody>
      <dsp:txXfrm>
        <a:off x="27034" y="27034"/>
        <a:ext cx="6081379" cy="868937"/>
      </dsp:txXfrm>
    </dsp:sp>
    <dsp:sp modelId="{4018D5B5-6484-4ACA-BB19-BAD41C770CC2}">
      <dsp:nvSpPr>
        <dsp:cNvPr id="0" name=""/>
        <dsp:cNvSpPr/>
      </dsp:nvSpPr>
      <dsp:spPr>
        <a:xfrm>
          <a:off x="599262" y="1090825"/>
          <a:ext cx="7155368" cy="92300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Inconsistent or Unclear Accountability</a:t>
          </a:r>
        </a:p>
      </dsp:txBody>
      <dsp:txXfrm>
        <a:off x="626296" y="1117859"/>
        <a:ext cx="5902084" cy="868937"/>
      </dsp:txXfrm>
    </dsp:sp>
    <dsp:sp modelId="{CFCEC9B4-4811-4020-99C3-31019B1437F4}">
      <dsp:nvSpPr>
        <dsp:cNvPr id="0" name=""/>
        <dsp:cNvSpPr/>
      </dsp:nvSpPr>
      <dsp:spPr>
        <a:xfrm>
          <a:off x="1189580" y="2181650"/>
          <a:ext cx="7155368" cy="92300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Low Trust &amp; Limited Psychological Safety</a:t>
          </a:r>
        </a:p>
      </dsp:txBody>
      <dsp:txXfrm>
        <a:off x="1216614" y="2208684"/>
        <a:ext cx="5911029" cy="868937"/>
      </dsp:txXfrm>
    </dsp:sp>
    <dsp:sp modelId="{B23F58FF-9D73-4BE7-B358-71E25ABAEF1C}">
      <dsp:nvSpPr>
        <dsp:cNvPr id="0" name=""/>
        <dsp:cNvSpPr/>
      </dsp:nvSpPr>
      <dsp:spPr>
        <a:xfrm>
          <a:off x="1788842" y="3272475"/>
          <a:ext cx="7155368" cy="923005"/>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Legal/Regulatory &amp; Data-Use Concerns</a:t>
          </a:r>
        </a:p>
      </dsp:txBody>
      <dsp:txXfrm>
        <a:off x="1815876" y="3299509"/>
        <a:ext cx="5902084" cy="868937"/>
      </dsp:txXfrm>
    </dsp:sp>
    <dsp:sp modelId="{707DFEA1-5B0C-4C64-A15F-0FDF2389B175}">
      <dsp:nvSpPr>
        <dsp:cNvPr id="0" name=""/>
        <dsp:cNvSpPr/>
      </dsp:nvSpPr>
      <dsp:spPr>
        <a:xfrm>
          <a:off x="6555415" y="706938"/>
          <a:ext cx="599953" cy="599953"/>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6690404" y="706938"/>
        <a:ext cx="329975" cy="451465"/>
      </dsp:txXfrm>
    </dsp:sp>
    <dsp:sp modelId="{D27E8F0A-7203-411C-BFCA-28E7D597209E}">
      <dsp:nvSpPr>
        <dsp:cNvPr id="0" name=""/>
        <dsp:cNvSpPr/>
      </dsp:nvSpPr>
      <dsp:spPr>
        <a:xfrm>
          <a:off x="7154677" y="1797763"/>
          <a:ext cx="599953" cy="599953"/>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289666" y="1797763"/>
        <a:ext cx="329975" cy="451465"/>
      </dsp:txXfrm>
    </dsp:sp>
    <dsp:sp modelId="{BD811963-7B9B-4D03-A74A-5BC9A3510FE7}">
      <dsp:nvSpPr>
        <dsp:cNvPr id="0" name=""/>
        <dsp:cNvSpPr/>
      </dsp:nvSpPr>
      <dsp:spPr>
        <a:xfrm>
          <a:off x="7744995" y="2888588"/>
          <a:ext cx="599953" cy="599953"/>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879984" y="2888588"/>
        <a:ext cx="329975" cy="4514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EB00D8-4567-44F1-8DBE-5E01C18D5850}">
      <dsp:nvSpPr>
        <dsp:cNvPr id="0" name=""/>
        <dsp:cNvSpPr/>
      </dsp:nvSpPr>
      <dsp:spPr>
        <a:xfrm>
          <a:off x="170132" y="1528212"/>
          <a:ext cx="1139056" cy="11390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FB1ED5-7713-4675-8EB6-DFFE6CED7297}">
      <dsp:nvSpPr>
        <dsp:cNvPr id="0" name=""/>
        <dsp:cNvSpPr/>
      </dsp:nvSpPr>
      <dsp:spPr>
        <a:xfrm>
          <a:off x="409334" y="1767414"/>
          <a:ext cx="660652" cy="6606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0EEE1E-4621-40DE-8FA4-0FCCB1FB1D03}">
      <dsp:nvSpPr>
        <dsp:cNvPr id="0" name=""/>
        <dsp:cNvSpPr/>
      </dsp:nvSpPr>
      <dsp:spPr>
        <a:xfrm>
          <a:off x="1553272" y="1528212"/>
          <a:ext cx="2684919" cy="1139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Under-reporting of errors or near-misses due to fear of negative consequences is widespread across domains.</a:t>
          </a:r>
        </a:p>
      </dsp:txBody>
      <dsp:txXfrm>
        <a:off x="1553272" y="1528212"/>
        <a:ext cx="2684919" cy="1139056"/>
      </dsp:txXfrm>
    </dsp:sp>
    <dsp:sp modelId="{73976377-17FF-4BB4-818C-913612C37D21}">
      <dsp:nvSpPr>
        <dsp:cNvPr id="0" name=""/>
        <dsp:cNvSpPr/>
      </dsp:nvSpPr>
      <dsp:spPr>
        <a:xfrm>
          <a:off x="4706018" y="1528212"/>
          <a:ext cx="1139056" cy="11390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7BDE40-04DF-4808-999E-4B95A83C0083}">
      <dsp:nvSpPr>
        <dsp:cNvPr id="0" name=""/>
        <dsp:cNvSpPr/>
      </dsp:nvSpPr>
      <dsp:spPr>
        <a:xfrm>
          <a:off x="4945220" y="1767414"/>
          <a:ext cx="660652" cy="6606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18B4F2-2060-47E3-956F-2BDF055076C9}">
      <dsp:nvSpPr>
        <dsp:cNvPr id="0" name=""/>
        <dsp:cNvSpPr/>
      </dsp:nvSpPr>
      <dsp:spPr>
        <a:xfrm>
          <a:off x="6089159" y="1528212"/>
          <a:ext cx="2684919" cy="1139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Outcome bias: severe outcomes trigger punitive responses, even when behaviors were reasonable.</a:t>
          </a:r>
        </a:p>
      </dsp:txBody>
      <dsp:txXfrm>
        <a:off x="6089159" y="1528212"/>
        <a:ext cx="2684919" cy="113905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90FFBA-72B4-4356-AC56-DDFF1C805AF3}"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E6477-066E-40E6-A1F3-C44438189466}" type="slidenum">
              <a:rPr lang="en-US" smtClean="0"/>
              <a:t>‹#›</a:t>
            </a:fld>
            <a:endParaRPr lang="en-US"/>
          </a:p>
        </p:txBody>
      </p:sp>
    </p:spTree>
    <p:extLst>
      <p:ext uri="{BB962C8B-B14F-4D97-AF65-F5344CB8AC3E}">
        <p14:creationId xmlns:p14="http://schemas.microsoft.com/office/powerpoint/2010/main" val="3373796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Microsoft 365 content library
Blame often leads to fear, resulting in under-reporting of issues. An inconsistent process can create perceptions of unfairness, which lowers trust in the system. Additionally, legal worries may cause data hoarding, leading to weak feedback and missed opportunities for improvement.</a:t>
            </a:r>
          </a:p>
        </p:txBody>
      </p:sp>
      <p:sp>
        <p:nvSpPr>
          <p:cNvPr id="4" name="Slide Number Placeholder 3"/>
          <p:cNvSpPr>
            <a:spLocks noGrp="1"/>
          </p:cNvSpPr>
          <p:nvPr>
            <p:ph type="sldNum" sz="quarter" idx="5"/>
          </p:nvPr>
        </p:nvSpPr>
        <p:spPr/>
        <p:txBody>
          <a:bodyPr/>
          <a:lstStyle/>
          <a:p>
            <a:fld id="{A5DF9C66-9B09-4644-B7E9-1C6DEC139B0A}" type="slidenum">
              <a:rPr lang="en-US" smtClean="0"/>
              <a:t>8</a:t>
            </a:fld>
            <a:endParaRPr lang="en-US"/>
          </a:p>
        </p:txBody>
      </p:sp>
    </p:spTree>
    <p:extLst>
      <p:ext uri="{BB962C8B-B14F-4D97-AF65-F5344CB8AC3E}">
        <p14:creationId xmlns:p14="http://schemas.microsoft.com/office/powerpoint/2010/main" val="388208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654" y="1447801"/>
            <a:ext cx="8823360" cy="3329581"/>
          </a:xfrm>
        </p:spPr>
        <p:txBody>
          <a:bodyPr anchor="b"/>
          <a:lstStyle>
            <a:lvl1pPr>
              <a:defRPr sz="7198"/>
            </a:lvl1pPr>
          </a:lstStyle>
          <a:p>
            <a:r>
              <a:rPr lang="en-US"/>
              <a:t>Click to edit Master title style</a:t>
            </a:r>
            <a:endParaRPr lang="en-US" dirty="0"/>
          </a:p>
        </p:txBody>
      </p:sp>
      <p:sp>
        <p:nvSpPr>
          <p:cNvPr id="3" name="Subtitle 2"/>
          <p:cNvSpPr>
            <a:spLocks noGrp="1"/>
          </p:cNvSpPr>
          <p:nvPr>
            <p:ph type="subTitle" idx="1"/>
          </p:nvPr>
        </p:nvSpPr>
        <p:spPr>
          <a:xfrm>
            <a:off x="1154654" y="4777380"/>
            <a:ext cx="8823360" cy="861420"/>
          </a:xfrm>
        </p:spPr>
        <p:txBody>
          <a:bodyPr anchor="t"/>
          <a:lstStyle>
            <a:lvl1pPr marL="0" indent="0" algn="l">
              <a:buNone/>
              <a:defRPr cap="all">
                <a:solidFill>
                  <a:schemeClr val="bg2">
                    <a:lumMod val="40000"/>
                    <a:lumOff val="6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5947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0763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656" y="2861734"/>
            <a:ext cx="8823359" cy="1915647"/>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0" cy="860400"/>
          </a:xfrm>
        </p:spPr>
        <p:txBody>
          <a:bodyPr anchor="t"/>
          <a:lstStyle>
            <a:lvl1pPr marL="0" indent="0" algn="l">
              <a:buNone/>
              <a:defRPr sz="1999" cap="all">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4733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025" y="2060576"/>
            <a:ext cx="4395194" cy="4195763"/>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3021" y="2056093"/>
            <a:ext cx="4395196" cy="4200245"/>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1888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026" y="1905000"/>
            <a:ext cx="4395193"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025"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3023" y="1905000"/>
            <a:ext cx="439519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3023"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3533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340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344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2" y="1447800"/>
            <a:ext cx="3400178" cy="1447800"/>
          </a:xfrm>
        </p:spPr>
        <p:txBody>
          <a:bodyPr anchor="b"/>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4783370" y="1447800"/>
            <a:ext cx="5194644" cy="4572000"/>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653" y="3129281"/>
            <a:ext cx="3400177" cy="2895599"/>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5731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606" y="1854192"/>
            <a:ext cx="5091580" cy="1574808"/>
          </a:xfrm>
        </p:spPr>
        <p:txBody>
          <a:bodyPr anchor="b">
            <a:normAutofit/>
          </a:bodyPr>
          <a:lstStyle>
            <a:lvl1pPr algn="l">
              <a:defRPr sz="35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7736" y="1143000"/>
            <a:ext cx="3199567"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4" y="3657600"/>
            <a:ext cx="5083655" cy="1371600"/>
          </a:xfrm>
        </p:spPr>
        <p:txBody>
          <a:bodyPr>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8996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6" y="4800587"/>
            <a:ext cx="8823359"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654" y="685800"/>
            <a:ext cx="8823360"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5" y="5367325"/>
            <a:ext cx="8823358" cy="493712"/>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5002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4" y="1447800"/>
            <a:ext cx="8823361" cy="1981200"/>
          </a:xfrm>
        </p:spPr>
        <p:txBody>
          <a:bodyPr/>
          <a:lstStyle>
            <a:lvl1pPr>
              <a:defRPr sz="4799"/>
            </a:lvl1pPr>
          </a:lstStyle>
          <a:p>
            <a:r>
              <a:rPr lang="en-US"/>
              <a:t>Click to edit Master title style</a:t>
            </a:r>
            <a:endParaRPr lang="en-US" dirty="0"/>
          </a:p>
        </p:txBody>
      </p:sp>
      <p:sp>
        <p:nvSpPr>
          <p:cNvPr id="8" name="Text Placeholder 3"/>
          <p:cNvSpPr>
            <a:spLocks noGrp="1"/>
          </p:cNvSpPr>
          <p:nvPr>
            <p:ph type="body" sz="half" idx="2"/>
          </p:nvPr>
        </p:nvSpPr>
        <p:spPr>
          <a:xfrm>
            <a:off x="1154654" y="3657600"/>
            <a:ext cx="8823361" cy="23622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1233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391" y="1447800"/>
            <a:ext cx="7997232" cy="2323374"/>
          </a:xfrm>
        </p:spPr>
        <p:txBody>
          <a:bodyPr/>
          <a:lstStyle>
            <a:lvl1pPr>
              <a:defRPr sz="4799"/>
            </a:lvl1pPr>
          </a:lstStyle>
          <a:p>
            <a:r>
              <a:rPr lang="en-US"/>
              <a:t>Click to edit Master title style</a:t>
            </a:r>
            <a:endParaRPr lang="en-US" dirty="0"/>
          </a:p>
        </p:txBody>
      </p:sp>
      <p:sp>
        <p:nvSpPr>
          <p:cNvPr id="11" name="Text Placeholder 3"/>
          <p:cNvSpPr>
            <a:spLocks noGrp="1"/>
          </p:cNvSpPr>
          <p:nvPr>
            <p:ph type="body" sz="half" idx="14"/>
          </p:nvPr>
        </p:nvSpPr>
        <p:spPr>
          <a:xfrm>
            <a:off x="1929898" y="3771174"/>
            <a:ext cx="7277753"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654" y="4350657"/>
            <a:ext cx="8823361" cy="16764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061" y="971253"/>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
        <p:nvSpPr>
          <p:cNvPr id="15" name="TextBox 14"/>
          <p:cNvSpPr txBox="1"/>
          <p:nvPr/>
        </p:nvSpPr>
        <p:spPr>
          <a:xfrm>
            <a:off x="9328060" y="2613787"/>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Tree>
    <p:extLst>
      <p:ext uri="{BB962C8B-B14F-4D97-AF65-F5344CB8AC3E}">
        <p14:creationId xmlns:p14="http://schemas.microsoft.com/office/powerpoint/2010/main" val="2669318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653" y="3124201"/>
            <a:ext cx="8823362" cy="1653180"/>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1" cy="860400"/>
          </a:xfrm>
        </p:spPr>
        <p:txBody>
          <a:bodyPr anchor="t"/>
          <a:lstStyle>
            <a:lvl1pPr marL="0" indent="0" algn="l">
              <a:buNone/>
              <a:defRPr sz="1999" cap="none">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454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32782" y="1981200"/>
            <a:ext cx="294609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293" y="2667000"/>
            <a:ext cx="2926588"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2648" y="1981200"/>
            <a:ext cx="2935476"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2097" y="2667000"/>
            <a:ext cx="2946027"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1981200"/>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2845" y="2667000"/>
            <a:ext cx="2931349"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7" name="Straight Connector 16"/>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0585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52293" y="4250949"/>
            <a:ext cx="293928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293" y="2209800"/>
            <a:ext cx="293928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293" y="4827212"/>
            <a:ext cx="2939284"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8363" y="4250949"/>
            <a:ext cx="2929762"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8362" y="2209800"/>
            <a:ext cx="292976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7009" y="4827211"/>
            <a:ext cx="293364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4250949"/>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2844" y="2209800"/>
            <a:ext cx="2931349"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2720" y="4827209"/>
            <a:ext cx="293523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9" name="Straight Connector 18"/>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9284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8034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2050" y="430214"/>
            <a:ext cx="1752145"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294" y="887414"/>
            <a:ext cx="7421216"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0940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6"/>
            <a:ext cx="4035961"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8"/>
            <a:ext cx="1522016" cy="2365453"/>
          </a:xfrm>
          <a:prstGeom prst="rect">
            <a:avLst/>
          </a:prstGeom>
        </p:spPr>
      </p:pic>
      <p:sp>
        <p:nvSpPr>
          <p:cNvPr id="16" name="Oval 15"/>
          <p:cNvSpPr/>
          <p:nvPr/>
        </p:nvSpPr>
        <p:spPr>
          <a:xfrm>
            <a:off x="8606770" y="1676400"/>
            <a:ext cx="2818666"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7330" y="1"/>
            <a:ext cx="1602969"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3637" y="6096000"/>
            <a:ext cx="993475" cy="762000"/>
          </a:xfrm>
          <a:prstGeom prst="rect">
            <a:avLst/>
          </a:prstGeom>
        </p:spPr>
      </p:pic>
      <p:sp>
        <p:nvSpPr>
          <p:cNvPr id="14" name="Rectangle 13"/>
          <p:cNvSpPr/>
          <p:nvPr/>
        </p:nvSpPr>
        <p:spPr>
          <a:xfrm>
            <a:off x="10435094" y="0"/>
            <a:ext cx="685621"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5943" y="452718"/>
            <a:ext cx="9402274"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025" y="2052919"/>
            <a:ext cx="894421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2866" y="1790741"/>
            <a:ext cx="990599" cy="304720"/>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11/2/2025</a:t>
            </a:fld>
            <a:endParaRPr lang="en-US"/>
          </a:p>
        </p:txBody>
      </p:sp>
      <p:sp>
        <p:nvSpPr>
          <p:cNvPr id="5" name="Footer Placeholder 4"/>
          <p:cNvSpPr>
            <a:spLocks noGrp="1"/>
          </p:cNvSpPr>
          <p:nvPr>
            <p:ph type="ftr" sz="quarter" idx="3"/>
          </p:nvPr>
        </p:nvSpPr>
        <p:spPr>
          <a:xfrm rot="5400000">
            <a:off x="8948740" y="3225337"/>
            <a:ext cx="3859795" cy="304722"/>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49844" y="295730"/>
            <a:ext cx="837981" cy="767687"/>
          </a:xfrm>
          <a:prstGeom prst="rect">
            <a:avLst/>
          </a:prstGeom>
        </p:spPr>
        <p:txBody>
          <a:bodyPr vert="horz" lIns="91440" tIns="45720" rIns="91440" bIns="45720" rtlCol="0" anchor="b"/>
          <a:lstStyle>
            <a:lvl1pPr algn="ctr">
              <a:defRPr sz="2799"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4619265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063" rtl="0" eaLnBrk="1" latinLnBrk="0" hangingPunct="1">
        <a:spcBef>
          <a:spcPct val="0"/>
        </a:spcBef>
        <a:buNone/>
        <a:defRPr sz="4199"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bg2">
            <a:lumMod val="40000"/>
            <a:lumOff val="60000"/>
          </a:schemeClr>
        </a:buClr>
        <a:buSzPct val="80000"/>
        <a:buFont typeface="Wingdings 3" charset="2"/>
        <a:buChar char=""/>
        <a:defRPr sz="1999" b="0" i="0" kern="1200">
          <a:solidFill>
            <a:schemeClr val="tx1"/>
          </a:solidFill>
          <a:latin typeface="+mj-lt"/>
          <a:ea typeface="+mj-ea"/>
          <a:cs typeface="+mj-cs"/>
        </a:defRPr>
      </a:lvl1pPr>
      <a:lvl2pPr marL="742727" indent="-285664" algn="l" defTabSz="457063" rtl="0" eaLnBrk="1" latinLnBrk="0" hangingPunct="1">
        <a:spcBef>
          <a:spcPts val="1000"/>
        </a:spcBef>
        <a:spcAft>
          <a:spcPts val="0"/>
        </a:spcAft>
        <a:buClr>
          <a:schemeClr val="bg2">
            <a:lumMod val="40000"/>
            <a:lumOff val="60000"/>
          </a:schemeClr>
        </a:buClr>
        <a:buSzPct val="80000"/>
        <a:buFont typeface="Wingdings 3" charset="2"/>
        <a:buChar char=""/>
        <a:defRPr sz="1799" b="0" i="0" kern="1200">
          <a:solidFill>
            <a:schemeClr val="tx1"/>
          </a:solidFill>
          <a:latin typeface="+mj-lt"/>
          <a:ea typeface="+mj-ea"/>
          <a:cs typeface="+mj-cs"/>
        </a:defRPr>
      </a:lvl2pPr>
      <a:lvl3pPr marL="1142657"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599720"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6783"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24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090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7971"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5034"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descr="Red ropes on a red surface">
            <a:extLst>
              <a:ext uri="{FF2B5EF4-FFF2-40B4-BE49-F238E27FC236}">
                <a16:creationId xmlns:a16="http://schemas.microsoft.com/office/drawing/2014/main" id="{CCEC94D7-28AF-0B93-0E8D-626DA539DAF6}"/>
              </a:ext>
            </a:extLst>
          </p:cNvPr>
          <p:cNvPicPr>
            <a:picLocks noChangeAspect="1"/>
          </p:cNvPicPr>
          <p:nvPr/>
        </p:nvPicPr>
        <p:blipFill>
          <a:blip r:embed="rId3">
            <a:duotone>
              <a:prstClr val="black"/>
              <a:schemeClr val="accent5">
                <a:tint val="45000"/>
                <a:satMod val="400000"/>
              </a:schemeClr>
            </a:duotone>
            <a:alphaModFix amt="25000"/>
          </a:blip>
          <a:srcRect t="6226"/>
          <a:stretch>
            <a:fillRect/>
          </a:stretch>
        </p:blipFill>
        <p:spPr>
          <a:xfrm>
            <a:off x="20" y="10"/>
            <a:ext cx="12188805" cy="6857990"/>
          </a:xfrm>
          <a:prstGeom prst="rect">
            <a:avLst/>
          </a:prstGeom>
        </p:spPr>
      </p:pic>
      <p:sp>
        <p:nvSpPr>
          <p:cNvPr id="2" name="Title 1"/>
          <p:cNvSpPr>
            <a:spLocks noGrp="1"/>
          </p:cNvSpPr>
          <p:nvPr>
            <p:ph type="ctrTitle"/>
          </p:nvPr>
        </p:nvSpPr>
        <p:spPr>
          <a:xfrm>
            <a:off x="1154654" y="1447800"/>
            <a:ext cx="8823359" cy="3329581"/>
          </a:xfrm>
        </p:spPr>
        <p:txBody>
          <a:bodyPr>
            <a:normAutofit/>
          </a:bodyPr>
          <a:lstStyle/>
          <a:p>
            <a:pPr>
              <a:lnSpc>
                <a:spcPct val="90000"/>
              </a:lnSpc>
            </a:pPr>
            <a:r>
              <a:t>Barriers to Implementing a Just Culture</a:t>
            </a:r>
            <a:endParaRPr lang="en-US"/>
          </a:p>
        </p:txBody>
      </p:sp>
      <p:sp>
        <p:nvSpPr>
          <p:cNvPr id="3" name="Subtitle 2"/>
          <p:cNvSpPr>
            <a:spLocks noGrp="1"/>
          </p:cNvSpPr>
          <p:nvPr>
            <p:ph type="subTitle" idx="1"/>
          </p:nvPr>
        </p:nvSpPr>
        <p:spPr>
          <a:xfrm>
            <a:off x="1154654" y="4777380"/>
            <a:ext cx="8823359" cy="861420"/>
          </a:xfrm>
        </p:spPr>
        <p:txBody>
          <a:bodyPr>
            <a:normAutofit fontScale="70000" lnSpcReduction="20000"/>
          </a:bodyPr>
          <a:lstStyle/>
          <a:p>
            <a:r>
              <a:rPr lang="en-US" dirty="0"/>
              <a:t>Jason Luttrell</a:t>
            </a:r>
          </a:p>
          <a:p>
            <a:r>
              <a:rPr lang="en-US" dirty="0"/>
              <a:t>Csd-380 module 9</a:t>
            </a:r>
          </a:p>
          <a:p>
            <a:r>
              <a:rPr lang="en-US" dirty="0"/>
              <a:t>11/2/25</a:t>
            </a:r>
            <a:endParaRPr dirty="0"/>
          </a:p>
        </p:txBody>
      </p:sp>
      <p:sp>
        <p:nvSpPr>
          <p:cNvPr id="9" name="Rectangle 8">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5093" y="0"/>
            <a:ext cx="685622"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Just Culture?</a:t>
            </a:r>
          </a:p>
        </p:txBody>
      </p:sp>
      <p:graphicFrame>
        <p:nvGraphicFramePr>
          <p:cNvPr id="6" name="Content Placeholder 2">
            <a:extLst>
              <a:ext uri="{FF2B5EF4-FFF2-40B4-BE49-F238E27FC236}">
                <a16:creationId xmlns:a16="http://schemas.microsoft.com/office/drawing/2014/main" id="{59423CF1-D881-2399-D1CF-825242ABCB9D}"/>
              </a:ext>
            </a:extLst>
          </p:cNvPr>
          <p:cNvGraphicFramePr>
            <a:graphicFrameLocks noGrp="1"/>
          </p:cNvGraphicFramePr>
          <p:nvPr>
            <p:ph idx="1"/>
            <p:extLst>
              <p:ext uri="{D42A27DB-BD31-4B8C-83A1-F6EECF244321}">
                <p14:modId xmlns:p14="http://schemas.microsoft.com/office/powerpoint/2010/main" val="3540719254"/>
              </p:ext>
            </p:extLst>
          </p:nvPr>
        </p:nvGraphicFramePr>
        <p:xfrm>
          <a:off x="1103025" y="2052919"/>
          <a:ext cx="8944211"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9097310" y="6217920"/>
            <a:ext cx="2332690" cy="246221"/>
          </a:xfrm>
          <a:prstGeom prst="rect">
            <a:avLst/>
          </a:prstGeom>
          <a:noFill/>
        </p:spPr>
        <p:txBody>
          <a:bodyPr wrap="none">
            <a:spAutoFit/>
          </a:bodyPr>
          <a:lstStyle/>
          <a:p>
            <a:pPr algn="r">
              <a:defRPr sz="1000"/>
            </a:pPr>
            <a:r>
              <a:rPr dirty="0"/>
              <a:t>[Boysen, 2013</a:t>
            </a:r>
            <a:r>
              <a:rPr lang="en-US" dirty="0"/>
              <a:t>, DevOps Handbook</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669E3-0D3E-266A-59FE-326568BFB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6205B-4F01-A88D-CB9C-B277617A543E}"/>
              </a:ext>
            </a:extLst>
          </p:cNvPr>
          <p:cNvSpPr>
            <a:spLocks noGrp="1"/>
          </p:cNvSpPr>
          <p:nvPr>
            <p:ph type="title"/>
          </p:nvPr>
        </p:nvSpPr>
        <p:spPr/>
        <p:txBody>
          <a:bodyPr/>
          <a:lstStyle/>
          <a:p>
            <a:r>
              <a:rPr lang="en-US" dirty="0"/>
              <a:t>Four Barriers Covered</a:t>
            </a:r>
            <a:endParaRPr dirty="0"/>
          </a:p>
        </p:txBody>
      </p:sp>
      <p:graphicFrame>
        <p:nvGraphicFramePr>
          <p:cNvPr id="6" name="Content Placeholder 2">
            <a:extLst>
              <a:ext uri="{FF2B5EF4-FFF2-40B4-BE49-F238E27FC236}">
                <a16:creationId xmlns:a16="http://schemas.microsoft.com/office/drawing/2014/main" id="{908D0CEC-E0B5-7F80-09F9-9CCB1B126DEB}"/>
              </a:ext>
            </a:extLst>
          </p:cNvPr>
          <p:cNvGraphicFramePr>
            <a:graphicFrameLocks noGrp="1"/>
          </p:cNvGraphicFramePr>
          <p:nvPr>
            <p:ph idx="1"/>
          </p:nvPr>
        </p:nvGraphicFramePr>
        <p:xfrm>
          <a:off x="1103025" y="2052919"/>
          <a:ext cx="8944211"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7698BC5-595F-8852-0C5B-E13A47DFC782}"/>
              </a:ext>
            </a:extLst>
          </p:cNvPr>
          <p:cNvSpPr txBox="1"/>
          <p:nvPr/>
        </p:nvSpPr>
        <p:spPr>
          <a:xfrm>
            <a:off x="9097310" y="6217920"/>
            <a:ext cx="2332690" cy="246221"/>
          </a:xfrm>
          <a:prstGeom prst="rect">
            <a:avLst/>
          </a:prstGeom>
          <a:noFill/>
        </p:spPr>
        <p:txBody>
          <a:bodyPr wrap="none">
            <a:spAutoFit/>
          </a:bodyPr>
          <a:lstStyle/>
          <a:p>
            <a:pPr algn="r">
              <a:defRPr sz="1000"/>
            </a:pPr>
            <a:r>
              <a:rPr dirty="0"/>
              <a:t>[Boysen, 2013</a:t>
            </a:r>
            <a:r>
              <a:rPr lang="en-US" dirty="0"/>
              <a:t>, DevOps Handbook</a:t>
            </a:r>
            <a:r>
              <a:rPr dirty="0"/>
              <a:t>]</a:t>
            </a:r>
          </a:p>
        </p:txBody>
      </p:sp>
    </p:spTree>
    <p:extLst>
      <p:ext uri="{BB962C8B-B14F-4D97-AF65-F5344CB8AC3E}">
        <p14:creationId xmlns:p14="http://schemas.microsoft.com/office/powerpoint/2010/main" val="3137926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Barrier #1 — Blame Culture &amp; Fear of Punishment</a:t>
            </a:r>
          </a:p>
        </p:txBody>
      </p:sp>
      <p:graphicFrame>
        <p:nvGraphicFramePr>
          <p:cNvPr id="6" name="Content Placeholder 2">
            <a:extLst>
              <a:ext uri="{FF2B5EF4-FFF2-40B4-BE49-F238E27FC236}">
                <a16:creationId xmlns:a16="http://schemas.microsoft.com/office/drawing/2014/main" id="{7CAF98B8-464E-88B3-39AC-CC2D9472926F}"/>
              </a:ext>
            </a:extLst>
          </p:cNvPr>
          <p:cNvGraphicFramePr>
            <a:graphicFrameLocks noGrp="1"/>
          </p:cNvGraphicFramePr>
          <p:nvPr>
            <p:ph idx="1"/>
            <p:extLst>
              <p:ext uri="{D42A27DB-BD31-4B8C-83A1-F6EECF244321}">
                <p14:modId xmlns:p14="http://schemas.microsoft.com/office/powerpoint/2010/main" val="3255653750"/>
              </p:ext>
            </p:extLst>
          </p:nvPr>
        </p:nvGraphicFramePr>
        <p:xfrm>
          <a:off x="1103025" y="2052919"/>
          <a:ext cx="8944211"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p:cNvSpPr txBox="1"/>
          <p:nvPr/>
        </p:nvSpPr>
        <p:spPr>
          <a:xfrm>
            <a:off x="457200" y="6217920"/>
            <a:ext cx="10972800" cy="365760"/>
          </a:xfrm>
          <a:prstGeom prst="rect">
            <a:avLst/>
          </a:prstGeom>
          <a:noFill/>
        </p:spPr>
        <p:txBody>
          <a:bodyPr wrap="none">
            <a:spAutoFit/>
          </a:bodyPr>
          <a:lstStyle/>
          <a:p>
            <a:pPr algn="r">
              <a:defRPr sz="1000"/>
            </a:pPr>
            <a:r>
              <a:t>[WTW, 2024; HQA Overcoming Barriers, 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Barrier #2 — Inconsistent or Unclear Accountability</a:t>
            </a:r>
          </a:p>
        </p:txBody>
      </p:sp>
      <p:sp>
        <p:nvSpPr>
          <p:cNvPr id="3" name="Content Placeholder 2"/>
          <p:cNvSpPr>
            <a:spLocks noGrp="1"/>
          </p:cNvSpPr>
          <p:nvPr>
            <p:ph idx="1"/>
          </p:nvPr>
        </p:nvSpPr>
        <p:spPr/>
        <p:txBody>
          <a:bodyPr/>
          <a:lstStyle/>
          <a:p>
            <a:endParaRPr dirty="0"/>
          </a:p>
          <a:p>
            <a:pPr>
              <a:defRPr sz="2000"/>
            </a:pPr>
            <a:r>
              <a:rPr dirty="0"/>
              <a:t>Inconsistent incident assessments and unclear thresholds between human error, at-risk, and reckless behavior erode trust.</a:t>
            </a:r>
          </a:p>
          <a:p>
            <a:pPr>
              <a:defRPr sz="2000"/>
            </a:pPr>
            <a:r>
              <a:rPr dirty="0"/>
              <a:t>Lack of transparency in how cases are handled discourages speaking up.</a:t>
            </a:r>
          </a:p>
        </p:txBody>
      </p:sp>
      <p:sp>
        <p:nvSpPr>
          <p:cNvPr id="4" name="TextBox 3"/>
          <p:cNvSpPr txBox="1"/>
          <p:nvPr/>
        </p:nvSpPr>
        <p:spPr>
          <a:xfrm>
            <a:off x="457200" y="6217920"/>
            <a:ext cx="10972800" cy="365760"/>
          </a:xfrm>
          <a:prstGeom prst="rect">
            <a:avLst/>
          </a:prstGeom>
          <a:noFill/>
        </p:spPr>
        <p:txBody>
          <a:bodyPr wrap="none">
            <a:spAutoFit/>
          </a:bodyPr>
          <a:lstStyle/>
          <a:p>
            <a:pPr algn="r">
              <a:defRPr sz="1000"/>
            </a:pPr>
            <a:r>
              <a:t>[HQA Overcoming Barriers, n.d.; van Marum et al., 2022]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Barrier #3 — Low Trust &amp; Limited Psychological Safety</a:t>
            </a:r>
          </a:p>
        </p:txBody>
      </p:sp>
      <p:sp>
        <p:nvSpPr>
          <p:cNvPr id="3" name="Content Placeholder 2"/>
          <p:cNvSpPr>
            <a:spLocks noGrp="1"/>
          </p:cNvSpPr>
          <p:nvPr>
            <p:ph idx="1"/>
          </p:nvPr>
        </p:nvSpPr>
        <p:spPr/>
        <p:txBody>
          <a:bodyPr/>
          <a:lstStyle/>
          <a:p>
            <a:endParaRPr dirty="0"/>
          </a:p>
          <a:p>
            <a:pPr>
              <a:defRPr sz="2000"/>
            </a:pPr>
            <a:r>
              <a:rPr dirty="0"/>
              <a:t>Trust depends on management style, fairness, and openness about error handling; weak leadership behaviors undermine adoption.</a:t>
            </a:r>
          </a:p>
          <a:p>
            <a:pPr>
              <a:defRPr sz="2000"/>
            </a:pPr>
            <a:r>
              <a:rPr dirty="0"/>
              <a:t>Teams with low psychological safety avoid candid discussion, preventing organizati</a:t>
            </a:r>
            <a:r>
              <a:rPr lang="en-US" dirty="0"/>
              <a:t>onal learning</a:t>
            </a:r>
          </a:p>
        </p:txBody>
      </p:sp>
      <p:sp>
        <p:nvSpPr>
          <p:cNvPr id="4" name="TextBox 3"/>
          <p:cNvSpPr txBox="1"/>
          <p:nvPr/>
        </p:nvSpPr>
        <p:spPr>
          <a:xfrm>
            <a:off x="457200" y="6217920"/>
            <a:ext cx="10972800" cy="365760"/>
          </a:xfrm>
          <a:prstGeom prst="rect">
            <a:avLst/>
          </a:prstGeom>
          <a:noFill/>
        </p:spPr>
        <p:txBody>
          <a:bodyPr wrap="none">
            <a:spAutoFit/>
          </a:bodyPr>
          <a:lstStyle/>
          <a:p>
            <a:pPr algn="r">
              <a:defRPr sz="1000"/>
            </a:pPr>
            <a:r>
              <a:t>[van Marum et al., 2022]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Barrier #4 — Legal/Regulatory &amp; Data-Use Concerns</a:t>
            </a:r>
          </a:p>
        </p:txBody>
      </p:sp>
      <p:sp>
        <p:nvSpPr>
          <p:cNvPr id="3" name="Content Placeholder 2"/>
          <p:cNvSpPr>
            <a:spLocks noGrp="1"/>
          </p:cNvSpPr>
          <p:nvPr>
            <p:ph idx="1"/>
          </p:nvPr>
        </p:nvSpPr>
        <p:spPr/>
        <p:txBody>
          <a:bodyPr/>
          <a:lstStyle/>
          <a:p>
            <a:endParaRPr/>
          </a:p>
          <a:p>
            <a:pPr>
              <a:defRPr sz="2000"/>
            </a:pPr>
            <a:r>
              <a:t>Ambiguity about how incident data will be used (discipline vs. learning) reduces reporting.</a:t>
            </a:r>
          </a:p>
          <a:p>
            <a:pPr>
              <a:defRPr sz="2000"/>
            </a:pPr>
            <a:r>
              <a:t>Patchy or unclear protections around safety data and reporting systems block implementation.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5960" cy="4188315"/>
          </a:xfrm>
          <a:prstGeom prst="rect">
            <a:avLst/>
          </a:prstGeom>
        </p:spPr>
      </p:pic>
      <p:pic>
        <p:nvPicPr>
          <p:cNvPr id="27" name="Picture 26">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015" cy="2365453"/>
          </a:xfrm>
          <a:prstGeom prst="rect">
            <a:avLst/>
          </a:prstGeom>
        </p:spPr>
      </p:pic>
      <p:sp>
        <p:nvSpPr>
          <p:cNvPr id="29" name="Oval 28">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770" y="1676400"/>
            <a:ext cx="2818665"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1" name="Picture 30">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7328" y="0"/>
            <a:ext cx="1602970" cy="1141407"/>
          </a:xfrm>
          <a:prstGeom prst="rect">
            <a:avLst/>
          </a:prstGeom>
        </p:spPr>
      </p:pic>
      <p:pic>
        <p:nvPicPr>
          <p:cNvPr id="33" name="Picture 32">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3636" y="6096000"/>
            <a:ext cx="993476" cy="762000"/>
          </a:xfrm>
          <a:prstGeom prst="rect">
            <a:avLst/>
          </a:prstGeom>
        </p:spPr>
      </p:pic>
      <p:sp>
        <p:nvSpPr>
          <p:cNvPr id="35" name="Rectangle 34">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5093" y="0"/>
            <a:ext cx="685622"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796F15-B685-B0EA-578C-974F4937D815}"/>
              </a:ext>
            </a:extLst>
          </p:cNvPr>
          <p:cNvSpPr>
            <a:spLocks noGrp="1"/>
          </p:cNvSpPr>
          <p:nvPr>
            <p:ph type="title"/>
          </p:nvPr>
        </p:nvSpPr>
        <p:spPr>
          <a:xfrm>
            <a:off x="648761" y="629266"/>
            <a:ext cx="6186578" cy="1622321"/>
          </a:xfrm>
        </p:spPr>
        <p:txBody>
          <a:bodyPr vert="horz" lIns="91440" tIns="45720" rIns="91440" bIns="45720" rtlCol="0" anchor="t">
            <a:normAutofit/>
          </a:bodyPr>
          <a:lstStyle/>
          <a:p>
            <a:pPr defTabSz="457200"/>
            <a:r>
              <a:rPr lang="en-US" sz="4200">
                <a:solidFill>
                  <a:srgbClr val="EBEBEB"/>
                </a:solidFill>
              </a:rPr>
              <a:t>Barriers to Effective Reporting</a:t>
            </a:r>
          </a:p>
        </p:txBody>
      </p:sp>
      <p:sp>
        <p:nvSpPr>
          <p:cNvPr id="4" name="Content Placeholder 3">
            <a:extLst>
              <a:ext uri="{FF2B5EF4-FFF2-40B4-BE49-F238E27FC236}">
                <a16:creationId xmlns:a16="http://schemas.microsoft.com/office/drawing/2014/main" id="{53CDA1C5-7CFD-5B16-E9D6-68858444495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8761" y="2438400"/>
            <a:ext cx="6186577" cy="3785419"/>
          </a:xfrm>
        </p:spPr>
        <p:txBody>
          <a:bodyPr>
            <a:normAutofit/>
          </a:bodyPr>
          <a:lstStyle/>
          <a:p>
            <a:pPr marL="0" indent="0">
              <a:spcBef>
                <a:spcPts val="2500"/>
              </a:spcBef>
              <a:buFont typeface="Arial" panose="020B0604020202020204" pitchFamily="34" charset="0"/>
              <a:buNone/>
            </a:pPr>
            <a:r>
              <a:rPr lang="en-US" sz="1400" b="1" dirty="0">
                <a:solidFill>
                  <a:srgbClr val="FFFFFF"/>
                </a:solidFill>
              </a:rPr>
              <a:t>Fear and Blame</a:t>
            </a:r>
          </a:p>
          <a:p>
            <a:pPr marL="0" lvl="1" indent="0">
              <a:buFont typeface="Arial" panose="020B0604020202020204" pitchFamily="34" charset="0"/>
              <a:buNone/>
            </a:pPr>
            <a:r>
              <a:rPr lang="en-US" sz="1400" dirty="0">
                <a:solidFill>
                  <a:srgbClr val="FFFFFF"/>
                </a:solidFill>
              </a:rPr>
              <a:t>Fear of blame discourages individuals from reporting issues, resulting in incomplete or inaccurate information being shared.</a:t>
            </a:r>
          </a:p>
          <a:p>
            <a:pPr marL="0" indent="0">
              <a:spcBef>
                <a:spcPts val="2500"/>
              </a:spcBef>
              <a:buFont typeface="Arial" panose="020B0604020202020204" pitchFamily="34" charset="0"/>
              <a:buNone/>
            </a:pPr>
            <a:r>
              <a:rPr lang="en-US" sz="1400" b="1" dirty="0">
                <a:solidFill>
                  <a:srgbClr val="FFFFFF"/>
                </a:solidFill>
              </a:rPr>
              <a:t>Inconsistent Reporting Process</a:t>
            </a:r>
          </a:p>
          <a:p>
            <a:pPr marL="0" lvl="1" indent="0">
              <a:buFont typeface="Arial" panose="020B0604020202020204" pitchFamily="34" charset="0"/>
              <a:buNone/>
            </a:pPr>
            <a:r>
              <a:rPr lang="en-US" sz="1400" dirty="0">
                <a:solidFill>
                  <a:srgbClr val="FFFFFF"/>
                </a:solidFill>
              </a:rPr>
              <a:t>A process perceived as unfair causes distrust and reduces the likelihood of open reporting and honest feedback.</a:t>
            </a:r>
          </a:p>
          <a:p>
            <a:pPr marL="0" indent="0">
              <a:spcBef>
                <a:spcPts val="2500"/>
              </a:spcBef>
              <a:buFont typeface="Arial" panose="020B0604020202020204" pitchFamily="34" charset="0"/>
              <a:buNone/>
            </a:pPr>
            <a:r>
              <a:rPr lang="en-US" sz="1400" b="1" dirty="0">
                <a:solidFill>
                  <a:srgbClr val="FFFFFF"/>
                </a:solidFill>
              </a:rPr>
              <a:t>Legal Concerns and Data Hoarding</a:t>
            </a:r>
          </a:p>
          <a:p>
            <a:pPr marL="0" lvl="1" indent="0">
              <a:buFont typeface="Arial" panose="020B0604020202020204" pitchFamily="34" charset="0"/>
              <a:buNone/>
            </a:pPr>
            <a:r>
              <a:rPr lang="en-US" sz="1400" dirty="0">
                <a:solidFill>
                  <a:srgbClr val="FFFFFF"/>
                </a:solidFill>
              </a:rPr>
              <a:t>Legal worries lead to data hoarding, which weakens feedback and causes missed chances for improvement.</a:t>
            </a:r>
          </a:p>
        </p:txBody>
      </p:sp>
      <p:sp>
        <p:nvSpPr>
          <p:cNvPr id="39"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4146" y="-1"/>
            <a:ext cx="559327"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Furious couple arguing about finance in the kitchen">
            <a:extLst>
              <a:ext uri="{FF2B5EF4-FFF2-40B4-BE49-F238E27FC236}">
                <a16:creationId xmlns:a16="http://schemas.microsoft.com/office/drawing/2014/main" id="{3179352B-6283-4EF4-BFB8-31AC10CAD585}"/>
              </a:ext>
            </a:extLst>
          </p:cNvPr>
          <p:cNvPicPr>
            <a:picLocks noGrp="1" noChangeAspect="1"/>
          </p:cNvPicPr>
          <p:nvPr>
            <p:ph sz="half" idx="1"/>
          </p:nvPr>
        </p:nvPicPr>
        <p:blipFill>
          <a:blip r:embed="rId8"/>
          <a:srcRect l="10966" r="40738" b="-2"/>
          <a:stretch>
            <a:fillRect/>
          </a:stretch>
        </p:blipFill>
        <p:spPr>
          <a:xfrm>
            <a:off x="7227292" y="1"/>
            <a:ext cx="4961952"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90559877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References</a:t>
            </a:r>
          </a:p>
        </p:txBody>
      </p:sp>
      <p:sp>
        <p:nvSpPr>
          <p:cNvPr id="3" name="Content Placeholder 2"/>
          <p:cNvSpPr>
            <a:spLocks noGrp="1"/>
          </p:cNvSpPr>
          <p:nvPr>
            <p:ph idx="1"/>
          </p:nvPr>
        </p:nvSpPr>
        <p:spPr/>
        <p:txBody>
          <a:bodyPr/>
          <a:lstStyle/>
          <a:p>
            <a:endParaRPr dirty="0"/>
          </a:p>
          <a:p>
            <a:pPr>
              <a:defRPr sz="1400"/>
            </a:pPr>
            <a:r>
              <a:rPr lang="en-US" dirty="0"/>
              <a:t>Gene, Kim, et al., </a:t>
            </a:r>
            <a:r>
              <a:rPr dirty="0"/>
              <a:t>DevOps Handbook</a:t>
            </a:r>
            <a:r>
              <a:rPr lang="en-US" dirty="0"/>
              <a:t>, 2021. IT Revolution, Portland</a:t>
            </a:r>
          </a:p>
          <a:p>
            <a:pPr>
              <a:defRPr sz="1400"/>
            </a:pPr>
            <a:r>
              <a:rPr dirty="0"/>
              <a:t>Boysen, P.G. (2013). Just Culture: Balanced Accountability. https://pmc.ncbi.nlm.nih.gov/articles/PMC3776518/</a:t>
            </a:r>
          </a:p>
          <a:p>
            <a:pPr>
              <a:defRPr sz="1400"/>
            </a:pPr>
            <a:r>
              <a:rPr dirty="0"/>
              <a:t>van Marum, S. et al. (2022). Barriers/Enhancers to Trust in a Just Culture. https://pubmed.ncbi.nlm.nih.gov/35588066/</a:t>
            </a:r>
          </a:p>
          <a:p>
            <a:pPr>
              <a:defRPr sz="1400"/>
            </a:pPr>
            <a:r>
              <a:rPr dirty="0"/>
              <a:t>WTW (2024). Patient safety in a just culture. https://www.wtwco.com/en-us/insights/2024/08/patient-safety-in-a-just-culture-encouraging-reporting-and-learning-from-errors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23</TotalTime>
  <Words>565</Words>
  <Application>Microsoft Office PowerPoint</Application>
  <PresentationFormat>Custom</PresentationFormat>
  <Paragraphs>49</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Century Gothic</vt:lpstr>
      <vt:lpstr>Wingdings 3</vt:lpstr>
      <vt:lpstr>Ion</vt:lpstr>
      <vt:lpstr>Barriers to Implementing a Just Culture</vt:lpstr>
      <vt:lpstr>What is a Just Culture?</vt:lpstr>
      <vt:lpstr>Four Barriers Covered</vt:lpstr>
      <vt:lpstr>Barrier #1 — Blame Culture &amp; Fear of Punishment</vt:lpstr>
      <vt:lpstr>Barrier #2 — Inconsistent or Unclear Accountability</vt:lpstr>
      <vt:lpstr>Barrier #3 — Low Trust &amp; Limited Psychological Safety</vt:lpstr>
      <vt:lpstr>Barrier #4 — Legal/Regulatory &amp; Data-Use Concerns</vt:lpstr>
      <vt:lpstr>Barriers to Effective Reporting</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Jason Luttrell</dc:creator>
  <cp:keywords/>
  <dc:description>generated using python-pptx</dc:description>
  <cp:lastModifiedBy>Jason Luttrell</cp:lastModifiedBy>
  <cp:revision>2</cp:revision>
  <dcterms:created xsi:type="dcterms:W3CDTF">2013-01-27T09:14:16Z</dcterms:created>
  <dcterms:modified xsi:type="dcterms:W3CDTF">2025-11-03T00:17:21Z</dcterms:modified>
  <cp:category/>
</cp:coreProperties>
</file>